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548640" y="320040"/>
            <a:ext cx="10972800" cy="822960"/>
          </a:xfrm>
          <a:prstGeom prst="rect">
            <a:avLst/>
          </a:prstGeom>
          <a:noFill/>
        </p:spPr>
        <p:txBody>
          <a:bodyPr wrap="none">
            <a:spAutoFit/>
          </a:bodyPr>
          <a:lstStyle/>
          <a:p>
            <a:r>
              <a:rPr sz="3200" b="1">
                <a:solidFill>
                  <a:srgbClr val="FFFFFF"/>
                </a:solidFill>
              </a:rPr>
              <a:t>Parker Aerospace: Installed-Base Reliability &amp; Warranty Intelligence</a:t>
            </a:r>
          </a:p>
          <a:p>
            <a:r>
              <a:rPr sz="1600">
                <a:solidFill>
                  <a:srgbClr val="F28C28"/>
                </a:solidFill>
              </a:rPr>
              <a:t>Predict which Parker components will fail in service next quarter, and act before the operator calls an AOG</a:t>
            </a:r>
          </a:p>
        </p:txBody>
      </p:sp>
      <p:sp>
        <p:nvSpPr>
          <p:cNvPr id="3" name="Rectangle 2"/>
          <p:cNvSpPr/>
          <p:nvPr/>
        </p:nvSpPr>
        <p:spPr>
          <a:xfrm>
            <a:off x="0" y="6583680"/>
            <a:ext cx="12191695" cy="274320"/>
          </a:xfrm>
          <a:prstGeom prst="rect">
            <a:avLst/>
          </a:prstGeom>
          <a:solidFill>
            <a:srgbClr val="F2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377440"/>
            <a:ext cx="10972800" cy="4937760"/>
          </a:xfrm>
          <a:prstGeom prst="rect">
            <a:avLst/>
          </a:prstGeom>
          <a:noFill/>
        </p:spPr>
        <p:txBody>
          <a:bodyPr wrap="square">
            <a:spAutoFit/>
          </a:bodyPr>
          <a:lstStyle/>
          <a:p>
            <a:pPr>
              <a:spcAft>
                <a:spcPts val="1000"/>
              </a:spcAft>
            </a:pPr>
            <a:r>
              <a:rPr sz="1800">
                <a:solidFill>
                  <a:srgbClr val="FFFFFF"/>
                </a:solidFill>
              </a:rPr>
              <a:t>Prepared for: VP Aftermarket &amp; Customer Support (economic buyer) and Director, Product Support Engineering (operational owner)</a:t>
            </a:r>
          </a:p>
          <a:p>
            <a:pPr>
              <a:spcAft>
                <a:spcPts val="1000"/>
              </a:spcAft>
            </a:pPr>
            <a:r>
              <a:rPr sz="1800">
                <a:solidFill>
                  <a:srgbClr val="FFFFFF"/>
                </a:solidFill>
              </a:rPr>
              <a:t>Built on Databricks: Lakeflow pipelines, Unity Catalog, MLflow, Vector Search, Genie, Lakebase, Databricks Apps</a:t>
            </a:r>
          </a:p>
          <a:p>
            <a:pPr>
              <a:spcAft>
                <a:spcPts val="1000"/>
              </a:spcAft>
            </a:pPr>
            <a:r>
              <a:rPr sz="1800">
                <a:solidFill>
                  <a:srgbClr val="FFFFFF"/>
                </a:solidFill>
              </a:rPr>
              <a:t>All figures are from a synthetic installed base modelled on Parker's aerospace portfolio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548640" y="320040"/>
            <a:ext cx="10972800" cy="822960"/>
          </a:xfrm>
          <a:prstGeom prst="rect">
            <a:avLst/>
          </a:prstGeom>
          <a:noFill/>
        </p:spPr>
        <p:txBody>
          <a:bodyPr wrap="none">
            <a:spAutoFit/>
          </a:bodyPr>
          <a:lstStyle/>
          <a:p>
            <a:r>
              <a:rPr sz="3200" b="1">
                <a:solidFill>
                  <a:srgbClr val="FFFFFF"/>
                </a:solidFill>
              </a:rPr>
              <a:t>Parker's position in the aerospace value chain</a:t>
            </a:r>
          </a:p>
          <a:p>
            <a:r>
              <a:rPr sz="1600">
                <a:solidFill>
                  <a:srgbClr val="F28C28"/>
                </a:solidFill>
              </a:rPr>
              <a:t>Parker builds the part. The operator and its MRO maintain it. Parker pays when it fails early.</a:t>
            </a:r>
          </a:p>
        </p:txBody>
      </p:sp>
      <p:sp>
        <p:nvSpPr>
          <p:cNvPr id="3" name="Rectangle 2"/>
          <p:cNvSpPr/>
          <p:nvPr/>
        </p:nvSpPr>
        <p:spPr>
          <a:xfrm>
            <a:off x="0" y="6583680"/>
            <a:ext cx="12191695" cy="274320"/>
          </a:xfrm>
          <a:prstGeom prst="rect">
            <a:avLst/>
          </a:prstGeom>
          <a:solidFill>
            <a:srgbClr val="F2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554480"/>
          <a:ext cx="11064240" cy="3657600"/>
        </p:xfrm>
        <a:graphic>
          <a:graphicData uri="http://schemas.openxmlformats.org/drawingml/2006/table">
            <a:tbl>
              <a:tblPr firstRow="1" bandRow="1">
                <a:tableStyleId>{5C22544A-7EE6-4342-B048-85BDC9FD1C3A}</a:tableStyleId>
              </a:tblPr>
              <a:tblGrid>
                <a:gridCol w="2377440"/>
                <a:gridCol w="3291840"/>
                <a:gridCol w="2651760"/>
                <a:gridCol w="2743200"/>
              </a:tblGrid>
              <a:tr h="731520">
                <a:tc>
                  <a:txBody>
                    <a:bodyPr/>
                    <a:lstStyle/>
                    <a:p>
                      <a:r>
                        <a:rPr sz="1200" b="1">
                          <a:solidFill>
                            <a:srgbClr val="FFFFFF"/>
                          </a:solidFill>
                        </a:rPr>
                        <a:t>Party</a:t>
                      </a:r>
                    </a:p>
                  </a:txBody>
                  <a:tcPr>
                    <a:solidFill>
                      <a:srgbClr val="F28C28"/>
                    </a:solidFill>
                  </a:tcPr>
                </a:tc>
                <a:tc>
                  <a:txBody>
                    <a:bodyPr/>
                    <a:lstStyle/>
                    <a:p>
                      <a:r>
                        <a:rPr sz="1200" b="1">
                          <a:solidFill>
                            <a:srgbClr val="FFFFFF"/>
                          </a:solidFill>
                        </a:rPr>
                        <a:t>Role</a:t>
                      </a:r>
                    </a:p>
                  </a:txBody>
                  <a:tcPr>
                    <a:solidFill>
                      <a:srgbClr val="F28C28"/>
                    </a:solidFill>
                  </a:tcPr>
                </a:tc>
                <a:tc>
                  <a:txBody>
                    <a:bodyPr/>
                    <a:lstStyle/>
                    <a:p>
                      <a:r>
                        <a:rPr sz="1200" b="1">
                          <a:solidFill>
                            <a:srgbClr val="FFFFFF"/>
                          </a:solidFill>
                        </a:rPr>
                        <a:t>What it controls</a:t>
                      </a:r>
                    </a:p>
                  </a:txBody>
                  <a:tcPr>
                    <a:solidFill>
                      <a:srgbClr val="F28C28"/>
                    </a:solidFill>
                  </a:tcPr>
                </a:tc>
                <a:tc>
                  <a:txBody>
                    <a:bodyPr/>
                    <a:lstStyle/>
                    <a:p>
                      <a:r>
                        <a:rPr sz="1200" b="1">
                          <a:solidFill>
                            <a:srgbClr val="FFFFFF"/>
                          </a:solidFill>
                        </a:rPr>
                        <a:t>What it costs Parker when it goes wrong</a:t>
                      </a:r>
                    </a:p>
                  </a:txBody>
                  <a:tcPr>
                    <a:solidFill>
                      <a:srgbClr val="F28C28"/>
                    </a:solidFill>
                  </a:tcPr>
                </a:tc>
              </a:tr>
              <a:tr h="731520">
                <a:tc>
                  <a:txBody>
                    <a:bodyPr/>
                    <a:lstStyle/>
                    <a:p>
                      <a:r>
                        <a:rPr sz="1200" b="0">
                          <a:solidFill>
                            <a:srgbClr val="222222"/>
                          </a:solidFill>
                        </a:rPr>
                        <a:t>Parker Aerospace (Tier-1 OEM)</a:t>
                      </a:r>
                    </a:p>
                  </a:txBody>
                  <a:tcPr>
                    <a:solidFill>
                      <a:srgbClr val="F4F6F8"/>
                    </a:solidFill>
                  </a:tcPr>
                </a:tc>
                <a:tc>
                  <a:txBody>
                    <a:bodyPr/>
                    <a:lstStyle/>
                    <a:p>
                      <a:r>
                        <a:rPr sz="1200" b="0">
                          <a:solidFill>
                            <a:srgbClr val="222222"/>
                          </a:solidFill>
                        </a:rPr>
                        <a:t>Designs/builds hydraulic actuators, fuel valves, pneumatic valves, ECS controllers, sensors</a:t>
                      </a:r>
                    </a:p>
                  </a:txBody>
                  <a:tcPr>
                    <a:solidFill>
                      <a:srgbClr val="F4F6F8"/>
                    </a:solidFill>
                  </a:tcPr>
                </a:tc>
                <a:tc>
                  <a:txBody>
                    <a:bodyPr/>
                    <a:lstStyle/>
                    <a:p>
                      <a:r>
                        <a:rPr sz="1200" b="0">
                          <a:solidFill>
                            <a:srgbClr val="222222"/>
                          </a:solidFill>
                        </a:rPr>
                        <a:t>Design, CMMs, service bulletins, warranty terms</a:t>
                      </a:r>
                    </a:p>
                  </a:txBody>
                  <a:tcPr>
                    <a:solidFill>
                      <a:srgbClr val="F4F6F8"/>
                    </a:solidFill>
                  </a:tcPr>
                </a:tc>
                <a:tc>
                  <a:txBody>
                    <a:bodyPr/>
                    <a:lstStyle/>
                    <a:p>
                      <a:r>
                        <a:rPr sz="1200" b="0">
                          <a:solidFill>
                            <a:srgbClr val="222222"/>
                          </a:solidFill>
                        </a:rPr>
                        <a:t>Warranty claims, AOG spares + field-service dispatch</a:t>
                      </a:r>
                    </a:p>
                  </a:txBody>
                  <a:tcPr>
                    <a:solidFill>
                      <a:srgbClr val="F4F6F8"/>
                    </a:solidFill>
                  </a:tcPr>
                </a:tc>
              </a:tr>
              <a:tr h="731520">
                <a:tc>
                  <a:txBody>
                    <a:bodyPr/>
                    <a:lstStyle/>
                    <a:p>
                      <a:r>
                        <a:rPr sz="1200" b="0">
                          <a:solidFill>
                            <a:srgbClr val="222222"/>
                          </a:solidFill>
                        </a:rPr>
                        <a:t>Airframer</a:t>
                      </a:r>
                    </a:p>
                  </a:txBody>
                  <a:tcPr>
                    <a:solidFill>
                      <a:srgbClr val="FFFFFF"/>
                    </a:solidFill>
                  </a:tcPr>
                </a:tc>
                <a:tc>
                  <a:txBody>
                    <a:bodyPr/>
                    <a:lstStyle/>
                    <a:p>
                      <a:r>
                        <a:rPr sz="1200" b="0">
                          <a:solidFill>
                            <a:srgbClr val="222222"/>
                          </a:solidFill>
                        </a:rPr>
                        <a:t>Integrates Parker systems into the aircraft</a:t>
                      </a:r>
                    </a:p>
                  </a:txBody>
                  <a:tcPr>
                    <a:solidFill>
                      <a:srgbClr val="FFFFFF"/>
                    </a:solidFill>
                  </a:tcPr>
                </a:tc>
                <a:tc>
                  <a:txBody>
                    <a:bodyPr/>
                    <a:lstStyle/>
                    <a:p>
                      <a:r>
                        <a:rPr sz="1200" b="0">
                          <a:solidFill>
                            <a:srgbClr val="222222"/>
                          </a:solidFill>
                        </a:rPr>
                        <a:t>Supplier scorecard, reliability guarantees</a:t>
                      </a:r>
                    </a:p>
                  </a:txBody>
                  <a:tcPr>
                    <a:solidFill>
                      <a:srgbClr val="FFFFFF"/>
                    </a:solidFill>
                  </a:tcPr>
                </a:tc>
                <a:tc>
                  <a:txBody>
                    <a:bodyPr/>
                    <a:lstStyle/>
                    <a:p>
                      <a:r>
                        <a:rPr sz="1200" b="0">
                          <a:solidFill>
                            <a:srgbClr val="222222"/>
                          </a:solidFill>
                        </a:rPr>
                        <a:t>Reliability-guarantee penalties, share of future platforms</a:t>
                      </a:r>
                    </a:p>
                  </a:txBody>
                  <a:tcPr>
                    <a:solidFill>
                      <a:srgbClr val="FFFFFF"/>
                    </a:solidFill>
                  </a:tcPr>
                </a:tc>
              </a:tr>
              <a:tr h="731520">
                <a:tc>
                  <a:txBody>
                    <a:bodyPr/>
                    <a:lstStyle/>
                    <a:p>
                      <a:r>
                        <a:rPr sz="1200" b="0">
                          <a:solidFill>
                            <a:srgbClr val="222222"/>
                          </a:solidFill>
                        </a:rPr>
                        <a:t>10 airline operators</a:t>
                      </a:r>
                    </a:p>
                  </a:txBody>
                  <a:tcPr>
                    <a:solidFill>
                      <a:srgbClr val="F4F6F8"/>
                    </a:solidFill>
                  </a:tcPr>
                </a:tc>
                <a:tc>
                  <a:txBody>
                    <a:bodyPr/>
                    <a:lstStyle/>
                    <a:p>
                      <a:r>
                        <a:rPr sz="1200" b="0">
                          <a:solidFill>
                            <a:srgbClr val="222222"/>
                          </a:solidFill>
                        </a:rPr>
                        <a:t>Fly 328 aircraft carrying 1,640 Parker components</a:t>
                      </a:r>
                    </a:p>
                  </a:txBody>
                  <a:tcPr>
                    <a:solidFill>
                      <a:srgbClr val="F4F6F8"/>
                    </a:solidFill>
                  </a:tcPr>
                </a:tc>
                <a:tc>
                  <a:txBody>
                    <a:bodyPr/>
                    <a:lstStyle/>
                    <a:p>
                      <a:r>
                        <a:rPr sz="1200" b="0">
                          <a:solidFill>
                            <a:srgbClr val="222222"/>
                          </a:solidFill>
                        </a:rPr>
                        <a:t>Flight hours, cycles, maintenance schedule</a:t>
                      </a:r>
                    </a:p>
                  </a:txBody>
                  <a:tcPr>
                    <a:solidFill>
                      <a:srgbClr val="F4F6F8"/>
                    </a:solidFill>
                  </a:tcPr>
                </a:tc>
                <a:tc>
                  <a:txBody>
                    <a:bodyPr/>
                    <a:lstStyle/>
                    <a:p>
                      <a:r>
                        <a:rPr sz="1200" b="0">
                          <a:solidFill>
                            <a:srgbClr val="222222"/>
                          </a:solidFill>
                        </a:rPr>
                        <a:t>Unscheduled removals reported against Parker part numbers</a:t>
                      </a:r>
                    </a:p>
                  </a:txBody>
                  <a:tcPr>
                    <a:solidFill>
                      <a:srgbClr val="F4F6F8"/>
                    </a:solidFill>
                  </a:tcPr>
                </a:tc>
              </a:tr>
              <a:tr h="731520">
                <a:tc>
                  <a:txBody>
                    <a:bodyPr/>
                    <a:lstStyle/>
                    <a:p>
                      <a:r>
                        <a:rPr sz="1200" b="0">
                          <a:solidFill>
                            <a:srgbClr val="222222"/>
                          </a:solidFill>
                        </a:rPr>
                        <a:t>MRO shops</a:t>
                      </a:r>
                    </a:p>
                  </a:txBody>
                  <a:tcPr>
                    <a:solidFill>
                      <a:srgbClr val="FFFFFF"/>
                    </a:solidFill>
                  </a:tcPr>
                </a:tc>
                <a:tc>
                  <a:txBody>
                    <a:bodyPr/>
                    <a:lstStyle/>
                    <a:p>
                      <a:r>
                        <a:rPr sz="1200" b="0">
                          <a:solidFill>
                            <a:srgbClr val="222222"/>
                          </a:solidFill>
                        </a:rPr>
                        <a:t>Perform scheduled service and shop visits</a:t>
                      </a:r>
                    </a:p>
                  </a:txBody>
                  <a:tcPr>
                    <a:solidFill>
                      <a:srgbClr val="FFFFFF"/>
                    </a:solidFill>
                  </a:tcPr>
                </a:tc>
                <a:tc>
                  <a:txBody>
                    <a:bodyPr/>
                    <a:lstStyle/>
                    <a:p>
                      <a:r>
                        <a:rPr sz="1200" b="0">
                          <a:solidFill>
                            <a:srgbClr val="222222"/>
                          </a:solidFill>
                        </a:rPr>
                        <a:t>Service quality and record accuracy</a:t>
                      </a:r>
                    </a:p>
                  </a:txBody>
                  <a:tcPr>
                    <a:solidFill>
                      <a:srgbClr val="FFFFFF"/>
                    </a:solidFill>
                  </a:tcPr>
                </a:tc>
                <a:tc>
                  <a:txBody>
                    <a:bodyPr/>
                    <a:lstStyle/>
                    <a:p>
                      <a:r>
                        <a:rPr sz="1200" b="0">
                          <a:solidFill>
                            <a:srgbClr val="222222"/>
                          </a:solidFill>
                        </a:rPr>
                        <a:t>Missed or mis-recorded service turns into early failures and disputed claims</a:t>
                      </a:r>
                    </a:p>
                  </a:txBody>
                  <a:tcPr>
                    <a:solidFill>
                      <a:srgbClr val="FFFFFF"/>
                    </a:solidFill>
                  </a:tcPr>
                </a:tc>
              </a:tr>
            </a:tbl>
          </a:graphicData>
        </a:graphic>
      </p:graphicFrame>
      <p:sp>
        <p:nvSpPr>
          <p:cNvPr id="5" name="TextBox 4"/>
          <p:cNvSpPr txBox="1"/>
          <p:nvPr/>
        </p:nvSpPr>
        <p:spPr>
          <a:xfrm>
            <a:off x="548640" y="5989320"/>
            <a:ext cx="10972800" cy="548640"/>
          </a:xfrm>
          <a:prstGeom prst="rect">
            <a:avLst/>
          </a:prstGeom>
          <a:noFill/>
        </p:spPr>
        <p:txBody>
          <a:bodyPr wrap="square">
            <a:spAutoFit/>
          </a:bodyPr>
          <a:lstStyle/>
          <a:p>
            <a:r>
              <a:rPr sz="1100">
                <a:solidFill>
                  <a:srgbClr val="B8C2CC"/>
                </a:solidFill>
              </a:rPr>
              <a:t>The gap: Parker carries the warranty and AOG risk but sees operator service data late and in pieces. This platform puts operator service records and component telemetry in one governed view.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548640" y="320040"/>
            <a:ext cx="10972800" cy="822960"/>
          </a:xfrm>
          <a:prstGeom prst="rect">
            <a:avLst/>
          </a:prstGeom>
          <a:noFill/>
        </p:spPr>
        <p:txBody>
          <a:bodyPr wrap="none">
            <a:spAutoFit/>
          </a:bodyPr>
          <a:lstStyle/>
          <a:p>
            <a:r>
              <a:rPr sz="3200" b="1">
                <a:solidFill>
                  <a:srgbClr val="FFFFFF"/>
                </a:solidFill>
              </a:rPr>
              <a:t>Who owns these numbers</a:t>
            </a:r>
          </a:p>
          <a:p>
            <a:r>
              <a:rPr sz="1600">
                <a:solidFill>
                  <a:srgbClr val="F28C28"/>
                </a:solidFill>
              </a:rPr>
              <a:t>Each KPI in this deck has a named executive owner (by role)</a:t>
            </a:r>
          </a:p>
        </p:txBody>
      </p:sp>
      <p:sp>
        <p:nvSpPr>
          <p:cNvPr id="3" name="Rectangle 2"/>
          <p:cNvSpPr/>
          <p:nvPr/>
        </p:nvSpPr>
        <p:spPr>
          <a:xfrm>
            <a:off x="0" y="6583680"/>
            <a:ext cx="12191695" cy="274320"/>
          </a:xfrm>
          <a:prstGeom prst="rect">
            <a:avLst/>
          </a:prstGeom>
          <a:solidFill>
            <a:srgbClr val="F2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554480"/>
          <a:ext cx="11064240" cy="3017520"/>
        </p:xfrm>
        <a:graphic>
          <a:graphicData uri="http://schemas.openxmlformats.org/drawingml/2006/table">
            <a:tbl>
              <a:tblPr firstRow="1" bandRow="1">
                <a:tableStyleId>{5C22544A-7EE6-4342-B048-85BDC9FD1C3A}</a:tableStyleId>
              </a:tblPr>
              <a:tblGrid>
                <a:gridCol w="3840480"/>
                <a:gridCol w="3566160"/>
                <a:gridCol w="3657600"/>
              </a:tblGrid>
              <a:tr h="502920">
                <a:tc>
                  <a:txBody>
                    <a:bodyPr/>
                    <a:lstStyle/>
                    <a:p>
                      <a:r>
                        <a:rPr sz="1400" b="1">
                          <a:solidFill>
                            <a:srgbClr val="FFFFFF"/>
                          </a:solidFill>
                        </a:rPr>
                        <a:t>KPI</a:t>
                      </a:r>
                    </a:p>
                  </a:txBody>
                  <a:tcPr>
                    <a:solidFill>
                      <a:srgbClr val="F28C28"/>
                    </a:solidFill>
                  </a:tcPr>
                </a:tc>
                <a:tc>
                  <a:txBody>
                    <a:bodyPr/>
                    <a:lstStyle/>
                    <a:p>
                      <a:r>
                        <a:rPr sz="1400" b="1">
                          <a:solidFill>
                            <a:srgbClr val="FFFFFF"/>
                          </a:solidFill>
                        </a:rPr>
                        <a:t>Owner (role)</a:t>
                      </a:r>
                    </a:p>
                  </a:txBody>
                  <a:tcPr>
                    <a:solidFill>
                      <a:srgbClr val="F28C28"/>
                    </a:solidFill>
                  </a:tcPr>
                </a:tc>
                <a:tc>
                  <a:txBody>
                    <a:bodyPr/>
                    <a:lstStyle/>
                    <a:p>
                      <a:r>
                        <a:rPr sz="1400" b="1">
                          <a:solidFill>
                            <a:srgbClr val="FFFFFF"/>
                          </a:solidFill>
                        </a:rPr>
                        <a:t>Why they care</a:t>
                      </a:r>
                    </a:p>
                  </a:txBody>
                  <a:tcPr>
                    <a:solidFill>
                      <a:srgbClr val="F28C28"/>
                    </a:solidFill>
                  </a:tcPr>
                </a:tc>
              </a:tr>
              <a:tr h="502920">
                <a:tc>
                  <a:txBody>
                    <a:bodyPr/>
                    <a:lstStyle/>
                    <a:p>
                      <a:r>
                        <a:rPr sz="1400" b="0">
                          <a:solidFill>
                            <a:srgbClr val="222222"/>
                          </a:solidFill>
                        </a:rPr>
                        <a:t>Warranty cost and exposure ($)</a:t>
                      </a:r>
                    </a:p>
                  </a:txBody>
                  <a:tcPr>
                    <a:solidFill>
                      <a:srgbClr val="F4F6F8"/>
                    </a:solidFill>
                  </a:tcPr>
                </a:tc>
                <a:tc>
                  <a:txBody>
                    <a:bodyPr/>
                    <a:lstStyle/>
                    <a:p>
                      <a:r>
                        <a:rPr sz="1400" b="0">
                          <a:solidFill>
                            <a:srgbClr val="222222"/>
                          </a:solidFill>
                        </a:rPr>
                        <a:t>VP Aftermarket &amp; Customer Support</a:t>
                      </a:r>
                    </a:p>
                  </a:txBody>
                  <a:tcPr>
                    <a:solidFill>
                      <a:srgbClr val="F4F6F8"/>
                    </a:solidFill>
                  </a:tcPr>
                </a:tc>
                <a:tc>
                  <a:txBody>
                    <a:bodyPr/>
                    <a:lstStyle/>
                    <a:p>
                      <a:r>
                        <a:rPr sz="1400" b="0">
                          <a:solidFill>
                            <a:srgbClr val="222222"/>
                          </a:solidFill>
                        </a:rPr>
                        <a:t>Owns the aftermarket P&amp;L and the warranty reserve</a:t>
                      </a:r>
                    </a:p>
                  </a:txBody>
                  <a:tcPr>
                    <a:solidFill>
                      <a:srgbClr val="F4F6F8"/>
                    </a:solidFill>
                  </a:tcPr>
                </a:tc>
              </a:tr>
              <a:tr h="502920">
                <a:tc>
                  <a:txBody>
                    <a:bodyPr/>
                    <a:lstStyle/>
                    <a:p>
                      <a:r>
                        <a:rPr sz="1400" b="0">
                          <a:solidFill>
                            <a:srgbClr val="222222"/>
                          </a:solidFill>
                        </a:rPr>
                        <a:t>Program funding, payback</a:t>
                      </a:r>
                    </a:p>
                  </a:txBody>
                  <a:tcPr>
                    <a:solidFill>
                      <a:srgbClr val="FFFFFF"/>
                    </a:solidFill>
                  </a:tcPr>
                </a:tc>
                <a:tc>
                  <a:txBody>
                    <a:bodyPr/>
                    <a:lstStyle/>
                    <a:p>
                      <a:r>
                        <a:rPr sz="1400" b="0">
                          <a:solidFill>
                            <a:srgbClr val="222222"/>
                          </a:solidFill>
                        </a:rPr>
                        <a:t>VP Finance, Aerospace Group</a:t>
                      </a:r>
                    </a:p>
                  </a:txBody>
                  <a:tcPr>
                    <a:solidFill>
                      <a:srgbClr val="FFFFFF"/>
                    </a:solidFill>
                  </a:tcPr>
                </a:tc>
                <a:tc>
                  <a:txBody>
                    <a:bodyPr/>
                    <a:lstStyle/>
                    <a:p>
                      <a:r>
                        <a:rPr sz="1400" b="0">
                          <a:solidFill>
                            <a:srgbClr val="222222"/>
                          </a:solidFill>
                        </a:rPr>
                        <a:t>Approves the investment and the reserve assumptions</a:t>
                      </a:r>
                    </a:p>
                  </a:txBody>
                  <a:tcPr>
                    <a:solidFill>
                      <a:srgbClr val="FFFFFF"/>
                    </a:solidFill>
                  </a:tcPr>
                </a:tc>
              </a:tr>
              <a:tr h="502920">
                <a:tc>
                  <a:txBody>
                    <a:bodyPr/>
                    <a:lstStyle/>
                    <a:p>
                      <a:r>
                        <a:rPr sz="1400" b="0">
                          <a:solidFill>
                            <a:srgbClr val="222222"/>
                          </a:solidFill>
                        </a:rPr>
                        <a:t>Unscheduled removals, anomaly rate, MTBUR</a:t>
                      </a:r>
                    </a:p>
                  </a:txBody>
                  <a:tcPr>
                    <a:solidFill>
                      <a:srgbClr val="F4F6F8"/>
                    </a:solidFill>
                  </a:tcPr>
                </a:tc>
                <a:tc>
                  <a:txBody>
                    <a:bodyPr/>
                    <a:lstStyle/>
                    <a:p>
                      <a:r>
                        <a:rPr sz="1400" b="0">
                          <a:solidFill>
                            <a:srgbClr val="222222"/>
                          </a:solidFill>
                        </a:rPr>
                        <a:t>Director, Product Support Engineering</a:t>
                      </a:r>
                    </a:p>
                  </a:txBody>
                  <a:tcPr>
                    <a:solidFill>
                      <a:srgbClr val="F4F6F8"/>
                    </a:solidFill>
                  </a:tcPr>
                </a:tc>
                <a:tc>
                  <a:txBody>
                    <a:bodyPr/>
                    <a:lstStyle/>
                    <a:p>
                      <a:r>
                        <a:rPr sz="1400" b="0">
                          <a:solidFill>
                            <a:srgbClr val="222222"/>
                          </a:solidFill>
                        </a:rPr>
                        <a:t>Owns reliability, fault isolation and CMM content</a:t>
                      </a:r>
                    </a:p>
                  </a:txBody>
                  <a:tcPr>
                    <a:solidFill>
                      <a:srgbClr val="F4F6F8"/>
                    </a:solidFill>
                  </a:tcPr>
                </a:tc>
              </a:tr>
              <a:tr h="502920">
                <a:tc>
                  <a:txBody>
                    <a:bodyPr/>
                    <a:lstStyle/>
                    <a:p>
                      <a:r>
                        <a:rPr sz="1400" b="0">
                          <a:solidFill>
                            <a:srgbClr val="222222"/>
                          </a:solidFill>
                        </a:rPr>
                        <a:t>AOG events, field-service dispatches</a:t>
                      </a:r>
                    </a:p>
                  </a:txBody>
                  <a:tcPr>
                    <a:solidFill>
                      <a:srgbClr val="FFFFFF"/>
                    </a:solidFill>
                  </a:tcPr>
                </a:tc>
                <a:tc>
                  <a:txBody>
                    <a:bodyPr/>
                    <a:lstStyle/>
                    <a:p>
                      <a:r>
                        <a:rPr sz="1400" b="0">
                          <a:solidFill>
                            <a:srgbClr val="222222"/>
                          </a:solidFill>
                        </a:rPr>
                        <a:t>Director, Customer Support &amp; Field Service</a:t>
                      </a:r>
                    </a:p>
                  </a:txBody>
                  <a:tcPr>
                    <a:solidFill>
                      <a:srgbClr val="FFFFFF"/>
                    </a:solidFill>
                  </a:tcPr>
                </a:tc>
                <a:tc>
                  <a:txBody>
                    <a:bodyPr/>
                    <a:lstStyle/>
                    <a:p>
                      <a:r>
                        <a:rPr sz="1400" b="0">
                          <a:solidFill>
                            <a:srgbClr val="222222"/>
                          </a:solidFill>
                        </a:rPr>
                        <a:t>Owns response time and operator satisfaction</a:t>
                      </a:r>
                    </a:p>
                  </a:txBody>
                  <a:tcPr>
                    <a:solidFill>
                      <a:srgbClr val="FFFFFF"/>
                    </a:solidFill>
                  </a:tcPr>
                </a:tc>
              </a:tr>
              <a:tr h="502920">
                <a:tc>
                  <a:txBody>
                    <a:bodyPr/>
                    <a:lstStyle/>
                    <a:p>
                      <a:r>
                        <a:rPr sz="1400" b="0">
                          <a:solidFill>
                            <a:srgbClr val="222222"/>
                          </a:solidFill>
                        </a:rPr>
                        <a:t>Operator service compliance</a:t>
                      </a:r>
                    </a:p>
                  </a:txBody>
                  <a:tcPr>
                    <a:solidFill>
                      <a:srgbClr val="F4F6F8"/>
                    </a:solidFill>
                  </a:tcPr>
                </a:tc>
                <a:tc>
                  <a:txBody>
                    <a:bodyPr/>
                    <a:lstStyle/>
                    <a:p>
                      <a:r>
                        <a:rPr sz="1400" b="0">
                          <a:solidFill>
                            <a:srgbClr val="222222"/>
                          </a:solidFill>
                        </a:rPr>
                        <a:t>Director, Customer Support &amp; Field Service</a:t>
                      </a:r>
                    </a:p>
                  </a:txBody>
                  <a:tcPr>
                    <a:solidFill>
                      <a:srgbClr val="F4F6F8"/>
                    </a:solidFill>
                  </a:tcPr>
                </a:tc>
                <a:tc>
                  <a:txBody>
                    <a:bodyPr/>
                    <a:lstStyle/>
                    <a:p>
                      <a:r>
                        <a:rPr sz="1400" b="0">
                          <a:solidFill>
                            <a:srgbClr val="222222"/>
                          </a:solidFill>
                        </a:rPr>
                        <a:t>Negotiates service obligations with each operator</a:t>
                      </a:r>
                    </a:p>
                  </a:txBody>
                  <a:tcPr>
                    <a:solidFill>
                      <a:srgbClr val="F4F6F8"/>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548640" y="320040"/>
            <a:ext cx="10972800" cy="822960"/>
          </a:xfrm>
          <a:prstGeom prst="rect">
            <a:avLst/>
          </a:prstGeom>
          <a:noFill/>
        </p:spPr>
        <p:txBody>
          <a:bodyPr wrap="none">
            <a:spAutoFit/>
          </a:bodyPr>
          <a:lstStyle/>
          <a:p>
            <a:r>
              <a:rPr sz="3200" b="1">
                <a:solidFill>
                  <a:srgbClr val="FFFFFF"/>
                </a:solidFill>
              </a:rPr>
              <a:t>Today: reactive, late, and expensive</a:t>
            </a:r>
          </a:p>
          <a:p>
            <a:r>
              <a:rPr sz="1600">
                <a:solidFill>
                  <a:srgbClr val="F28C28"/>
                </a:solidFill>
              </a:rPr>
              <a:t>Live from the governed gold tables</a:t>
            </a:r>
          </a:p>
        </p:txBody>
      </p:sp>
      <p:sp>
        <p:nvSpPr>
          <p:cNvPr id="3" name="Rectangle 2"/>
          <p:cNvSpPr/>
          <p:nvPr/>
        </p:nvSpPr>
        <p:spPr>
          <a:xfrm>
            <a:off x="0" y="6583680"/>
            <a:ext cx="12191695" cy="274320"/>
          </a:xfrm>
          <a:prstGeom prst="rect">
            <a:avLst/>
          </a:prstGeom>
          <a:solidFill>
            <a:srgbClr val="F2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554480"/>
          <a:ext cx="11064240" cy="3520440"/>
        </p:xfrm>
        <a:graphic>
          <a:graphicData uri="http://schemas.openxmlformats.org/drawingml/2006/table">
            <a:tbl>
              <a:tblPr firstRow="1" bandRow="1">
                <a:tableStyleId>{5C22544A-7EE6-4342-B048-85BDC9FD1C3A}</a:tableStyleId>
              </a:tblPr>
              <a:tblGrid>
                <a:gridCol w="5120640"/>
                <a:gridCol w="3474720"/>
                <a:gridCol w="2468880"/>
              </a:tblGrid>
              <a:tr h="502920">
                <a:tc>
                  <a:txBody>
                    <a:bodyPr/>
                    <a:lstStyle/>
                    <a:p>
                      <a:r>
                        <a:rPr sz="1400" b="1">
                          <a:solidFill>
                            <a:srgbClr val="FFFFFF"/>
                          </a:solidFill>
                        </a:rPr>
                        <a:t>Current-state metric</a:t>
                      </a:r>
                    </a:p>
                  </a:txBody>
                  <a:tcPr>
                    <a:solidFill>
                      <a:srgbClr val="F28C28"/>
                    </a:solidFill>
                  </a:tcPr>
                </a:tc>
                <a:tc>
                  <a:txBody>
                    <a:bodyPr/>
                    <a:lstStyle/>
                    <a:p>
                      <a:r>
                        <a:rPr sz="1400" b="1">
                          <a:solidFill>
                            <a:srgbClr val="FFFFFF"/>
                          </a:solidFill>
                        </a:rPr>
                        <a:t>Value</a:t>
                      </a:r>
                    </a:p>
                  </a:txBody>
                  <a:tcPr>
                    <a:solidFill>
                      <a:srgbClr val="F28C28"/>
                    </a:solidFill>
                  </a:tcPr>
                </a:tc>
                <a:tc>
                  <a:txBody>
                    <a:bodyPr/>
                    <a:lstStyle/>
                    <a:p>
                      <a:r>
                        <a:rPr sz="1400" b="1">
                          <a:solidFill>
                            <a:srgbClr val="FFFFFF"/>
                          </a:solidFill>
                        </a:rPr>
                        <a:t>Owner</a:t>
                      </a:r>
                    </a:p>
                  </a:txBody>
                  <a:tcPr>
                    <a:solidFill>
                      <a:srgbClr val="F28C28"/>
                    </a:solidFill>
                  </a:tcPr>
                </a:tc>
              </a:tr>
              <a:tr h="502920">
                <a:tc>
                  <a:txBody>
                    <a:bodyPr/>
                    <a:lstStyle/>
                    <a:p>
                      <a:r>
                        <a:rPr sz="1400" b="0">
                          <a:solidFill>
                            <a:srgbClr val="222222"/>
                          </a:solidFill>
                        </a:rPr>
                        <a:t>Installed Parker components monitored</a:t>
                      </a:r>
                    </a:p>
                  </a:txBody>
                  <a:tcPr>
                    <a:solidFill>
                      <a:srgbClr val="F4F6F8"/>
                    </a:solidFill>
                  </a:tcPr>
                </a:tc>
                <a:tc>
                  <a:txBody>
                    <a:bodyPr/>
                    <a:lstStyle/>
                    <a:p>
                      <a:r>
                        <a:rPr sz="1400" b="0">
                          <a:solidFill>
                            <a:srgbClr val="222222"/>
                          </a:solidFill>
                        </a:rPr>
                        <a:t>1,640 on 328 aircraft, 10 operators</a:t>
                      </a:r>
                    </a:p>
                  </a:txBody>
                  <a:tcPr>
                    <a:solidFill>
                      <a:srgbClr val="F4F6F8"/>
                    </a:solidFill>
                  </a:tcPr>
                </a:tc>
                <a:tc>
                  <a:txBody>
                    <a:bodyPr/>
                    <a:lstStyle/>
                    <a:p>
                      <a:r>
                        <a:rPr sz="1400" b="0">
                          <a:solidFill>
                            <a:srgbClr val="222222"/>
                          </a:solidFill>
                        </a:rPr>
                        <a:t>VP Aftermarket</a:t>
                      </a:r>
                    </a:p>
                  </a:txBody>
                  <a:tcPr>
                    <a:solidFill>
                      <a:srgbClr val="F4F6F8"/>
                    </a:solidFill>
                  </a:tcPr>
                </a:tc>
              </a:tr>
              <a:tr h="502920">
                <a:tc>
                  <a:txBody>
                    <a:bodyPr/>
                    <a:lstStyle/>
                    <a:p>
                      <a:r>
                        <a:rPr sz="1400" b="0">
                          <a:solidFill>
                            <a:srgbClr val="222222"/>
                          </a:solidFill>
                        </a:rPr>
                        <a:t>Service records analysed (18 months)</a:t>
                      </a:r>
                    </a:p>
                  </a:txBody>
                  <a:tcPr>
                    <a:solidFill>
                      <a:srgbClr val="FFFFFF"/>
                    </a:solidFill>
                  </a:tcPr>
                </a:tc>
                <a:tc>
                  <a:txBody>
                    <a:bodyPr/>
                    <a:lstStyle/>
                    <a:p>
                      <a:r>
                        <a:rPr sz="1400" b="0">
                          <a:solidFill>
                            <a:srgbClr val="222222"/>
                          </a:solidFill>
                        </a:rPr>
                        <a:t>9,839</a:t>
                      </a:r>
                    </a:p>
                  </a:txBody>
                  <a:tcPr>
                    <a:solidFill>
                      <a:srgbClr val="FFFFFF"/>
                    </a:solidFill>
                  </a:tcPr>
                </a:tc>
                <a:tc>
                  <a:txBody>
                    <a:bodyPr/>
                    <a:lstStyle/>
                    <a:p>
                      <a:r>
                        <a:rPr sz="1400" b="0">
                          <a:solidFill>
                            <a:srgbClr val="222222"/>
                          </a:solidFill>
                        </a:rPr>
                        <a:t>Dir. Product Support Eng.</a:t>
                      </a:r>
                    </a:p>
                  </a:txBody>
                  <a:tcPr>
                    <a:solidFill>
                      <a:srgbClr val="FFFFFF"/>
                    </a:solidFill>
                  </a:tcPr>
                </a:tc>
              </a:tr>
              <a:tr h="502920">
                <a:tc>
                  <a:txBody>
                    <a:bodyPr/>
                    <a:lstStyle/>
                    <a:p>
                      <a:r>
                        <a:rPr sz="1400" b="0">
                          <a:solidFill>
                            <a:srgbClr val="222222"/>
                          </a:solidFill>
                        </a:rPr>
                        <a:t>Service events with a maintenance anomaly</a:t>
                      </a:r>
                    </a:p>
                  </a:txBody>
                  <a:tcPr>
                    <a:solidFill>
                      <a:srgbClr val="F4F6F8"/>
                    </a:solidFill>
                  </a:tcPr>
                </a:tc>
                <a:tc>
                  <a:txBody>
                    <a:bodyPr/>
                    <a:lstStyle/>
                    <a:p>
                      <a:r>
                        <a:rPr sz="1400" b="0">
                          <a:solidFill>
                            <a:srgbClr val="222222"/>
                          </a:solidFill>
                        </a:rPr>
                        <a:t>9.8%</a:t>
                      </a:r>
                    </a:p>
                  </a:txBody>
                  <a:tcPr>
                    <a:solidFill>
                      <a:srgbClr val="F4F6F8"/>
                    </a:solidFill>
                  </a:tcPr>
                </a:tc>
                <a:tc>
                  <a:txBody>
                    <a:bodyPr/>
                    <a:lstStyle/>
                    <a:p>
                      <a:r>
                        <a:rPr sz="1400" b="0">
                          <a:solidFill>
                            <a:srgbClr val="222222"/>
                          </a:solidFill>
                        </a:rPr>
                        <a:t>Dir. Product Support Eng.</a:t>
                      </a:r>
                    </a:p>
                  </a:txBody>
                  <a:tcPr>
                    <a:solidFill>
                      <a:srgbClr val="F4F6F8"/>
                    </a:solidFill>
                  </a:tcPr>
                </a:tc>
              </a:tr>
              <a:tr h="502920">
                <a:tc>
                  <a:txBody>
                    <a:bodyPr/>
                    <a:lstStyle/>
                    <a:p>
                      <a:r>
                        <a:rPr sz="1400" b="0">
                          <a:solidFill>
                            <a:srgbClr val="222222"/>
                          </a:solidFill>
                        </a:rPr>
                        <a:t>Average days an anomaly goes undetected</a:t>
                      </a:r>
                    </a:p>
                  </a:txBody>
                  <a:tcPr>
                    <a:solidFill>
                      <a:srgbClr val="FFFFFF"/>
                    </a:solidFill>
                  </a:tcPr>
                </a:tc>
                <a:tc>
                  <a:txBody>
                    <a:bodyPr/>
                    <a:lstStyle/>
                    <a:p>
                      <a:r>
                        <a:rPr sz="1400" b="0">
                          <a:solidFill>
                            <a:srgbClr val="222222"/>
                          </a:solidFill>
                        </a:rPr>
                        <a:t>37 days</a:t>
                      </a:r>
                    </a:p>
                  </a:txBody>
                  <a:tcPr>
                    <a:solidFill>
                      <a:srgbClr val="FFFFFF"/>
                    </a:solidFill>
                  </a:tcPr>
                </a:tc>
                <a:tc>
                  <a:txBody>
                    <a:bodyPr/>
                    <a:lstStyle/>
                    <a:p>
                      <a:r>
                        <a:rPr sz="1400" b="0">
                          <a:solidFill>
                            <a:srgbClr val="222222"/>
                          </a:solidFill>
                        </a:rPr>
                        <a:t>Dir. Customer Support &amp; Field Service</a:t>
                      </a:r>
                    </a:p>
                  </a:txBody>
                  <a:tcPr>
                    <a:solidFill>
                      <a:srgbClr val="FFFFFF"/>
                    </a:solidFill>
                  </a:tcPr>
                </a:tc>
              </a:tr>
              <a:tr h="502920">
                <a:tc>
                  <a:txBody>
                    <a:bodyPr/>
                    <a:lstStyle/>
                    <a:p>
                      <a:r>
                        <a:rPr sz="1400" b="0">
                          <a:solidFill>
                            <a:srgbClr val="222222"/>
                          </a:solidFill>
                        </a:rPr>
                        <a:t>Modelled warranty exposure on at-risk components</a:t>
                      </a:r>
                    </a:p>
                  </a:txBody>
                  <a:tcPr>
                    <a:solidFill>
                      <a:srgbClr val="F4F6F8"/>
                    </a:solidFill>
                  </a:tcPr>
                </a:tc>
                <a:tc>
                  <a:txBody>
                    <a:bodyPr/>
                    <a:lstStyle/>
                    <a:p>
                      <a:r>
                        <a:rPr sz="1400" b="0">
                          <a:solidFill>
                            <a:srgbClr val="222222"/>
                          </a:solidFill>
                        </a:rPr>
                        <a:t>$8.53M</a:t>
                      </a:r>
                    </a:p>
                  </a:txBody>
                  <a:tcPr>
                    <a:solidFill>
                      <a:srgbClr val="F4F6F8"/>
                    </a:solidFill>
                  </a:tcPr>
                </a:tc>
                <a:tc>
                  <a:txBody>
                    <a:bodyPr/>
                    <a:lstStyle/>
                    <a:p>
                      <a:r>
                        <a:rPr sz="1400" b="0">
                          <a:solidFill>
                            <a:srgbClr val="222222"/>
                          </a:solidFill>
                        </a:rPr>
                        <a:t>VP Aftermarket</a:t>
                      </a:r>
                    </a:p>
                  </a:txBody>
                  <a:tcPr>
                    <a:solidFill>
                      <a:srgbClr val="F4F6F8"/>
                    </a:solidFill>
                  </a:tcPr>
                </a:tc>
              </a:tr>
              <a:tr h="502920">
                <a:tc>
                  <a:txBody>
                    <a:bodyPr/>
                    <a:lstStyle/>
                    <a:p>
                      <a:r>
                        <a:rPr sz="1400" b="0">
                          <a:solidFill>
                            <a:srgbClr val="222222"/>
                          </a:solidFill>
                        </a:rPr>
                        <a:t>HIGH/CRITICAL service events or warranty-risk events per quarter</a:t>
                      </a:r>
                    </a:p>
                  </a:txBody>
                  <a:tcPr>
                    <a:solidFill>
                      <a:srgbClr val="FFFFFF"/>
                    </a:solidFill>
                  </a:tcPr>
                </a:tc>
                <a:tc>
                  <a:txBody>
                    <a:bodyPr/>
                    <a:lstStyle/>
                    <a:p>
                      <a:r>
                        <a:rPr sz="1400" b="0">
                          <a:solidFill>
                            <a:srgbClr val="222222"/>
                          </a:solidFill>
                        </a:rPr>
                        <a:t>59 events, $995K unit value</a:t>
                      </a:r>
                    </a:p>
                  </a:txBody>
                  <a:tcPr>
                    <a:solidFill>
                      <a:srgbClr val="FFFFFF"/>
                    </a:solidFill>
                  </a:tcPr>
                </a:tc>
                <a:tc>
                  <a:txBody>
                    <a:bodyPr/>
                    <a:lstStyle/>
                    <a:p>
                      <a:r>
                        <a:rPr sz="1400" b="0">
                          <a:solidFill>
                            <a:srgbClr val="222222"/>
                          </a:solidFill>
                        </a:rPr>
                        <a:t>VP Aftermarket</a:t>
                      </a:r>
                    </a:p>
                  </a:txBody>
                  <a:tcPr>
                    <a:solidFill>
                      <a:srgbClr val="FFFFFF"/>
                    </a:solidFill>
                  </a:tcPr>
                </a:tc>
              </a:tr>
            </a:tbl>
          </a:graphicData>
        </a:graphic>
      </p:graphicFrame>
      <p:sp>
        <p:nvSpPr>
          <p:cNvPr id="5" name="TextBox 4"/>
          <p:cNvSpPr txBox="1"/>
          <p:nvPr/>
        </p:nvSpPr>
        <p:spPr>
          <a:xfrm>
            <a:off x="548640" y="5989320"/>
            <a:ext cx="10972800" cy="548640"/>
          </a:xfrm>
          <a:prstGeom prst="rect">
            <a:avLst/>
          </a:prstGeom>
          <a:noFill/>
        </p:spPr>
        <p:txBody>
          <a:bodyPr wrap="square">
            <a:spAutoFit/>
          </a:bodyPr>
          <a:lstStyle/>
          <a:p>
            <a:r>
              <a:rPr sz="1100">
                <a:solidFill>
                  <a:srgbClr val="B8C2CC"/>
                </a:solidFill>
              </a:rPr>
              <a:t>Worst operators by anomaly rate: Atlas Pacific 11.2%, Continental Wings 11.0%, Summit Aviation 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548640" y="320040"/>
            <a:ext cx="10972800" cy="822960"/>
          </a:xfrm>
          <a:prstGeom prst="rect">
            <a:avLst/>
          </a:prstGeom>
          <a:noFill/>
        </p:spPr>
        <p:txBody>
          <a:bodyPr wrap="none">
            <a:spAutoFit/>
          </a:bodyPr>
          <a:lstStyle/>
          <a:p>
            <a:r>
              <a:rPr sz="3200" b="1">
                <a:solidFill>
                  <a:srgbClr val="FFFFFF"/>
                </a:solidFill>
              </a:rPr>
              <a:t>What we built</a:t>
            </a:r>
          </a:p>
          <a:p>
            <a:r>
              <a:rPr sz="1600">
                <a:solidFill>
                  <a:srgbClr val="F28C28"/>
                </a:solidFill>
              </a:rPr>
              <a:t>One governed platform from operator data to an engineer's next action</a:t>
            </a:r>
          </a:p>
        </p:txBody>
      </p:sp>
      <p:sp>
        <p:nvSpPr>
          <p:cNvPr id="3" name="Rectangle 2"/>
          <p:cNvSpPr/>
          <p:nvPr/>
        </p:nvSpPr>
        <p:spPr>
          <a:xfrm>
            <a:off x="0" y="6583680"/>
            <a:ext cx="12191695" cy="274320"/>
          </a:xfrm>
          <a:prstGeom prst="rect">
            <a:avLst/>
          </a:prstGeom>
          <a:solidFill>
            <a:srgbClr val="F2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0972800" cy="4937760"/>
          </a:xfrm>
          <a:prstGeom prst="rect">
            <a:avLst/>
          </a:prstGeom>
          <a:noFill/>
        </p:spPr>
        <p:txBody>
          <a:bodyPr wrap="square">
            <a:spAutoFit/>
          </a:bodyPr>
          <a:lstStyle/>
          <a:p>
            <a:pPr>
              <a:spcAft>
                <a:spcPts val="1000"/>
              </a:spcAft>
            </a:pPr>
            <a:r>
              <a:rPr sz="1800">
                <a:solidFill>
                  <a:srgbClr val="FFFFFF"/>
                </a:solidFill>
              </a:rPr>
              <a:t>Ingest: Lakeflow pipelines land operator flight telemetry and Parker service records (bronze -&gt; silver -&gt; gold) with data-quality expectations</a:t>
            </a:r>
          </a:p>
          <a:p>
            <a:pPr>
              <a:spcAft>
                <a:spcPts val="1000"/>
              </a:spcAft>
            </a:pPr>
            <a:r>
              <a:rPr sz="1800">
                <a:solidFill>
                  <a:srgbClr val="FFFFFF"/>
                </a:solidFill>
              </a:rPr>
              <a:t>Govern: Unity Catalog comments, quality tags, owner properties, operator-level row filters and a warranty-$ column mask, so an airline only sees its own fleet</a:t>
            </a:r>
          </a:p>
          <a:p>
            <a:pPr>
              <a:spcAft>
                <a:spcPts val="1000"/>
              </a:spcAft>
            </a:pPr>
            <a:r>
              <a:rPr sz="1800">
                <a:solidFill>
                  <a:srgbClr val="FFFFFF"/>
                </a:solidFill>
              </a:rPr>
              <a:t>Forecast: next-quarter failure model, point-in-time features, 5-fold CV, tracked in MLflow; ranks all 1,640 components</a:t>
            </a:r>
          </a:p>
          <a:p>
            <a:pPr>
              <a:spcAft>
                <a:spcPts val="1000"/>
              </a:spcAft>
            </a:pPr>
            <a:r>
              <a:rPr sz="1800">
                <a:solidFill>
                  <a:srgbClr val="FFFFFF"/>
                </a:solidFill>
              </a:rPr>
              <a:t>Act: Databricks App with dashboard, Genie (ask in plain English), and Maintenance Manual search (Vector Search) that returns the fault-isolation steps, part numbers and torque values</a:t>
            </a:r>
          </a:p>
          <a:p>
            <a:pPr>
              <a:spcAft>
                <a:spcPts val="1000"/>
              </a:spcAft>
            </a:pPr>
            <a:r>
              <a:rPr sz="1800">
                <a:solidFill>
                  <a:srgbClr val="FFFFFF"/>
                </a:solidFill>
              </a:rPr>
              <a:t>Serve: Lakebase for low-latency operational reads from the app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548640" y="320040"/>
            <a:ext cx="10972800" cy="822960"/>
          </a:xfrm>
          <a:prstGeom prst="rect">
            <a:avLst/>
          </a:prstGeom>
          <a:noFill/>
        </p:spPr>
        <p:txBody>
          <a:bodyPr wrap="none">
            <a:spAutoFit/>
          </a:bodyPr>
          <a:lstStyle/>
          <a:p>
            <a:r>
              <a:rPr sz="3200" b="1">
                <a:solidFill>
                  <a:srgbClr val="FFFFFF"/>
                </a:solidFill>
              </a:rPr>
              <a:t>How good is the forecast? (back-test, Jun-Aug 2026)</a:t>
            </a:r>
          </a:p>
          <a:p>
            <a:r>
              <a:rPr sz="1600">
                <a:solidFill>
                  <a:srgbClr val="F28C28"/>
                </a:solidFill>
              </a:rPr>
              <a:t>Trained only on data before 1 Jun 2026, scored against what actually happened next</a:t>
            </a:r>
          </a:p>
        </p:txBody>
      </p:sp>
      <p:sp>
        <p:nvSpPr>
          <p:cNvPr id="3" name="Rectangle 2"/>
          <p:cNvSpPr/>
          <p:nvPr/>
        </p:nvSpPr>
        <p:spPr>
          <a:xfrm>
            <a:off x="0" y="6583680"/>
            <a:ext cx="12191695" cy="274320"/>
          </a:xfrm>
          <a:prstGeom prst="rect">
            <a:avLst/>
          </a:prstGeom>
          <a:solidFill>
            <a:srgbClr val="F2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554480"/>
          <a:ext cx="11064240" cy="2194560"/>
        </p:xfrm>
        <a:graphic>
          <a:graphicData uri="http://schemas.openxmlformats.org/drawingml/2006/table">
            <a:tbl>
              <a:tblPr firstRow="1" bandRow="1">
                <a:tableStyleId>{5C22544A-7EE6-4342-B048-85BDC9FD1C3A}</a:tableStyleId>
              </a:tblPr>
              <a:tblGrid>
                <a:gridCol w="4754880"/>
                <a:gridCol w="4206240"/>
                <a:gridCol w="2103120"/>
              </a:tblGrid>
              <a:tr h="548640">
                <a:tc>
                  <a:txBody>
                    <a:bodyPr/>
                    <a:lstStyle/>
                    <a:p>
                      <a:r>
                        <a:rPr sz="1500" b="1">
                          <a:solidFill>
                            <a:srgbClr val="FFFFFF"/>
                          </a:solidFill>
                        </a:rPr>
                        <a:t>Approach</a:t>
                      </a:r>
                    </a:p>
                  </a:txBody>
                  <a:tcPr>
                    <a:solidFill>
                      <a:srgbClr val="F28C28"/>
                    </a:solidFill>
                  </a:tcPr>
                </a:tc>
                <a:tc>
                  <a:txBody>
                    <a:bodyPr/>
                    <a:lstStyle/>
                    <a:p>
                      <a:r>
                        <a:rPr sz="1500" b="1">
                          <a:solidFill>
                            <a:srgbClr val="FFFFFF"/>
                          </a:solidFill>
                        </a:rPr>
                        <a:t>Inspect 10% of fleet and catch...</a:t>
                      </a:r>
                    </a:p>
                  </a:txBody>
                  <a:tcPr>
                    <a:solidFill>
                      <a:srgbClr val="F28C28"/>
                    </a:solidFill>
                  </a:tcPr>
                </a:tc>
                <a:tc>
                  <a:txBody>
                    <a:bodyPr/>
                    <a:lstStyle/>
                    <a:p>
                      <a:r>
                        <a:rPr sz="1500" b="1">
                          <a:solidFill>
                            <a:srgbClr val="FFFFFF"/>
                          </a:solidFill>
                        </a:rPr>
                        <a:t>Lift vs random</a:t>
                      </a:r>
                    </a:p>
                  </a:txBody>
                  <a:tcPr>
                    <a:solidFill>
                      <a:srgbClr val="F28C28"/>
                    </a:solidFill>
                  </a:tcPr>
                </a:tc>
              </a:tr>
              <a:tr h="548640">
                <a:tc>
                  <a:txBody>
                    <a:bodyPr/>
                    <a:lstStyle/>
                    <a:p>
                      <a:r>
                        <a:rPr sz="1500" b="0">
                          <a:solidFill>
                            <a:srgbClr val="222222"/>
                          </a:solidFill>
                        </a:rPr>
                        <a:t>Random inspection</a:t>
                      </a:r>
                    </a:p>
                  </a:txBody>
                  <a:tcPr>
                    <a:solidFill>
                      <a:srgbClr val="F4F6F8"/>
                    </a:solidFill>
                  </a:tcPr>
                </a:tc>
                <a:tc>
                  <a:txBody>
                    <a:bodyPr/>
                    <a:lstStyle/>
                    <a:p>
                      <a:r>
                        <a:rPr sz="1500" b="0">
                          <a:solidFill>
                            <a:srgbClr val="222222"/>
                          </a:solidFill>
                        </a:rPr>
                        <a:t>10% of next-quarter events</a:t>
                      </a:r>
                    </a:p>
                  </a:txBody>
                  <a:tcPr>
                    <a:solidFill>
                      <a:srgbClr val="F4F6F8"/>
                    </a:solidFill>
                  </a:tcPr>
                </a:tc>
                <a:tc>
                  <a:txBody>
                    <a:bodyPr/>
                    <a:lstStyle/>
                    <a:p>
                      <a:r>
                        <a:rPr sz="1500" b="0">
                          <a:solidFill>
                            <a:srgbClr val="222222"/>
                          </a:solidFill>
                        </a:rPr>
                        <a:t>1.0x</a:t>
                      </a:r>
                    </a:p>
                  </a:txBody>
                  <a:tcPr>
                    <a:solidFill>
                      <a:srgbClr val="F4F6F8"/>
                    </a:solidFill>
                  </a:tcPr>
                </a:tc>
              </a:tr>
              <a:tr h="548640">
                <a:tc>
                  <a:txBody>
                    <a:bodyPr/>
                    <a:lstStyle/>
                    <a:p>
                      <a:r>
                        <a:rPr sz="1500" b="0">
                          <a:solidFill>
                            <a:srgbClr val="222222"/>
                          </a:solidFill>
                        </a:rPr>
                        <a:t>Rule: components with prior HIGH/CRITICAL history</a:t>
                      </a:r>
                    </a:p>
                  </a:txBody>
                  <a:tcPr>
                    <a:solidFill>
                      <a:srgbClr val="FFFFFF"/>
                    </a:solidFill>
                  </a:tcPr>
                </a:tc>
                <a:tc>
                  <a:txBody>
                    <a:bodyPr/>
                    <a:lstStyle/>
                    <a:p>
                      <a:r>
                        <a:rPr sz="1500" b="0">
                          <a:solidFill>
                            <a:srgbClr val="222222"/>
                          </a:solidFill>
                        </a:rPr>
                        <a:t>12% of events</a:t>
                      </a:r>
                    </a:p>
                  </a:txBody>
                  <a:tcPr>
                    <a:solidFill>
                      <a:srgbClr val="FFFFFF"/>
                    </a:solidFill>
                  </a:tcPr>
                </a:tc>
                <a:tc>
                  <a:txBody>
                    <a:bodyPr/>
                    <a:lstStyle/>
                    <a:p>
                      <a:r>
                        <a:rPr sz="1500" b="0">
                          <a:solidFill>
                            <a:srgbClr val="222222"/>
                          </a:solidFill>
                        </a:rPr>
                        <a:t>1.2x</a:t>
                      </a:r>
                    </a:p>
                  </a:txBody>
                  <a:tcPr>
                    <a:solidFill>
                      <a:srgbClr val="FFFFFF"/>
                    </a:solidFill>
                  </a:tcPr>
                </a:tc>
              </a:tr>
              <a:tr h="548640">
                <a:tc>
                  <a:txBody>
                    <a:bodyPr/>
                    <a:lstStyle/>
                    <a:p>
                      <a:r>
                        <a:rPr sz="1500" b="0">
                          <a:solidFill>
                            <a:srgbClr val="222222"/>
                          </a:solidFill>
                        </a:rPr>
                        <a:t>Databricks forecast (top decile)</a:t>
                      </a:r>
                    </a:p>
                  </a:txBody>
                  <a:tcPr>
                    <a:solidFill>
                      <a:srgbClr val="F4F6F8"/>
                    </a:solidFill>
                  </a:tcPr>
                </a:tc>
                <a:tc>
                  <a:txBody>
                    <a:bodyPr/>
                    <a:lstStyle/>
                    <a:p>
                      <a:r>
                        <a:rPr sz="1500" b="0">
                          <a:solidFill>
                            <a:srgbClr val="222222"/>
                          </a:solidFill>
                        </a:rPr>
                        <a:t>24% of events (14 of 59)</a:t>
                      </a:r>
                    </a:p>
                  </a:txBody>
                  <a:tcPr>
                    <a:solidFill>
                      <a:srgbClr val="F4F6F8"/>
                    </a:solidFill>
                  </a:tcPr>
                </a:tc>
                <a:tc>
                  <a:txBody>
                    <a:bodyPr/>
                    <a:lstStyle/>
                    <a:p>
                      <a:r>
                        <a:rPr sz="1500" b="0">
                          <a:solidFill>
                            <a:srgbClr val="222222"/>
                          </a:solidFill>
                        </a:rPr>
                        <a:t>2.4x</a:t>
                      </a:r>
                    </a:p>
                  </a:txBody>
                  <a:tcPr>
                    <a:solidFill>
                      <a:srgbClr val="F4F6F8"/>
                    </a:solidFill>
                  </a:tcPr>
                </a:tc>
              </a:tr>
            </a:tbl>
          </a:graphicData>
        </a:graphic>
      </p:graphicFrame>
      <p:sp>
        <p:nvSpPr>
          <p:cNvPr id="5" name="TextBox 4"/>
          <p:cNvSpPr txBox="1"/>
          <p:nvPr/>
        </p:nvSpPr>
        <p:spPr>
          <a:xfrm>
            <a:off x="548640" y="4572000"/>
            <a:ext cx="10972800" cy="548640"/>
          </a:xfrm>
          <a:prstGeom prst="rect">
            <a:avLst/>
          </a:prstGeom>
          <a:noFill/>
        </p:spPr>
        <p:txBody>
          <a:bodyPr wrap="square">
            <a:spAutoFit/>
          </a:bodyPr>
          <a:lstStyle/>
          <a:p>
            <a:r>
              <a:rPr sz="1100">
                <a:solidFill>
                  <a:srgbClr val="B8C2CC"/>
                </a:solidFill>
              </a:rPr>
              <a:t>ROC-AUC 0.60. An earlier model reported 0.999 AUC; that was target leakage (the label was a threshold on one of its own inputs) and has been replaced. The signal is limited by the synthetic data. Real operator data is expected to carry stronger wear and overdue signals.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548640" y="320040"/>
            <a:ext cx="10972800" cy="822960"/>
          </a:xfrm>
          <a:prstGeom prst="rect">
            <a:avLst/>
          </a:prstGeom>
          <a:noFill/>
        </p:spPr>
        <p:txBody>
          <a:bodyPr wrap="none">
            <a:spAutoFit/>
          </a:bodyPr>
          <a:lstStyle/>
          <a:p>
            <a:r>
              <a:rPr sz="3200" b="1">
                <a:solidFill>
                  <a:srgbClr val="FFFFFF"/>
                </a:solidFill>
              </a:rPr>
              <a:t>Before and after: one quarter, back-tested</a:t>
            </a:r>
          </a:p>
          <a:p>
            <a:r>
              <a:rPr sz="1600">
                <a:solidFill>
                  <a:srgbClr val="F28C28"/>
                </a:solidFill>
              </a:rPr>
              <a:t>Proactive field-service visits on the top-decile list</a:t>
            </a:r>
          </a:p>
        </p:txBody>
      </p:sp>
      <p:sp>
        <p:nvSpPr>
          <p:cNvPr id="3" name="Rectangle 2"/>
          <p:cNvSpPr/>
          <p:nvPr/>
        </p:nvSpPr>
        <p:spPr>
          <a:xfrm>
            <a:off x="0" y="6583680"/>
            <a:ext cx="12191695" cy="274320"/>
          </a:xfrm>
          <a:prstGeom prst="rect">
            <a:avLst/>
          </a:prstGeom>
          <a:solidFill>
            <a:srgbClr val="F2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554480"/>
          <a:ext cx="11064240" cy="3291839"/>
        </p:xfrm>
        <a:graphic>
          <a:graphicData uri="http://schemas.openxmlformats.org/drawingml/2006/table">
            <a:tbl>
              <a:tblPr firstRow="1" bandRow="1">
                <a:tableStyleId>{5C22544A-7EE6-4342-B048-85BDC9FD1C3A}</a:tableStyleId>
              </a:tblPr>
              <a:tblGrid>
                <a:gridCol w="4937760"/>
                <a:gridCol w="2103120"/>
                <a:gridCol w="2103120"/>
                <a:gridCol w="1920240"/>
              </a:tblGrid>
              <a:tr h="548639">
                <a:tc>
                  <a:txBody>
                    <a:bodyPr/>
                    <a:lstStyle/>
                    <a:p>
                      <a:r>
                        <a:rPr sz="1400" b="1">
                          <a:solidFill>
                            <a:srgbClr val="FFFFFF"/>
                          </a:solidFill>
                        </a:rPr>
                        <a:t>KPI (owner)</a:t>
                      </a:r>
                    </a:p>
                  </a:txBody>
                  <a:tcPr>
                    <a:solidFill>
                      <a:srgbClr val="F28C28"/>
                    </a:solidFill>
                  </a:tcPr>
                </a:tc>
                <a:tc>
                  <a:txBody>
                    <a:bodyPr/>
                    <a:lstStyle/>
                    <a:p>
                      <a:r>
                        <a:rPr sz="1400" b="1">
                          <a:solidFill>
                            <a:srgbClr val="FFFFFF"/>
                          </a:solidFill>
                        </a:rPr>
                        <a:t>Before (today)</a:t>
                      </a:r>
                    </a:p>
                  </a:txBody>
                  <a:tcPr>
                    <a:solidFill>
                      <a:srgbClr val="F28C28"/>
                    </a:solidFill>
                  </a:tcPr>
                </a:tc>
                <a:tc>
                  <a:txBody>
                    <a:bodyPr/>
                    <a:lstStyle/>
                    <a:p>
                      <a:r>
                        <a:rPr sz="1400" b="1">
                          <a:solidFill>
                            <a:srgbClr val="FFFFFF"/>
                          </a:solidFill>
                        </a:rPr>
                        <a:t>After</a:t>
                      </a:r>
                    </a:p>
                  </a:txBody>
                  <a:tcPr>
                    <a:solidFill>
                      <a:srgbClr val="F28C28"/>
                    </a:solidFill>
                  </a:tcPr>
                </a:tc>
                <a:tc>
                  <a:txBody>
                    <a:bodyPr/>
                    <a:lstStyle/>
                    <a:p>
                      <a:r>
                        <a:rPr sz="1400" b="1">
                          <a:solidFill>
                            <a:srgbClr val="FFFFFF"/>
                          </a:solidFill>
                        </a:rPr>
                        <a:t>Change</a:t>
                      </a:r>
                    </a:p>
                  </a:txBody>
                  <a:tcPr>
                    <a:solidFill>
                      <a:srgbClr val="F28C28"/>
                    </a:solidFill>
                  </a:tcPr>
                </a:tc>
              </a:tr>
              <a:tr h="548639">
                <a:tc>
                  <a:txBody>
                    <a:bodyPr/>
                    <a:lstStyle/>
                    <a:p>
                      <a:r>
                        <a:rPr sz="1400" b="0">
                          <a:solidFill>
                            <a:srgbClr val="222222"/>
                          </a:solidFill>
                        </a:rPr>
                        <a:t>Quarterly exposure from HIGH/CRITICAL + warranty-risk events (VP Aftermarket)</a:t>
                      </a:r>
                    </a:p>
                  </a:txBody>
                  <a:tcPr>
                    <a:solidFill>
                      <a:srgbClr val="F4F6F8"/>
                    </a:solidFill>
                  </a:tcPr>
                </a:tc>
                <a:tc>
                  <a:txBody>
                    <a:bodyPr/>
                    <a:lstStyle/>
                    <a:p>
                      <a:r>
                        <a:rPr sz="1400" b="0">
                          <a:solidFill>
                            <a:srgbClr val="222222"/>
                          </a:solidFill>
                        </a:rPr>
                        <a:t>$995K</a:t>
                      </a:r>
                    </a:p>
                  </a:txBody>
                  <a:tcPr>
                    <a:solidFill>
                      <a:srgbClr val="F4F6F8"/>
                    </a:solidFill>
                  </a:tcPr>
                </a:tc>
                <a:tc>
                  <a:txBody>
                    <a:bodyPr/>
                    <a:lstStyle/>
                    <a:p>
                      <a:r>
                        <a:rPr sz="1400" b="0">
                          <a:solidFill>
                            <a:srgbClr val="222222"/>
                          </a:solidFill>
                        </a:rPr>
                        <a:t>$797K</a:t>
                      </a:r>
                    </a:p>
                  </a:txBody>
                  <a:tcPr>
                    <a:solidFill>
                      <a:srgbClr val="F4F6F8"/>
                    </a:solidFill>
                  </a:tcPr>
                </a:tc>
                <a:tc>
                  <a:txBody>
                    <a:bodyPr/>
                    <a:lstStyle/>
                    <a:p>
                      <a:r>
                        <a:rPr sz="1400" b="0">
                          <a:solidFill>
                            <a:srgbClr val="222222"/>
                          </a:solidFill>
                        </a:rPr>
                        <a:t>-20%</a:t>
                      </a:r>
                    </a:p>
                  </a:txBody>
                  <a:tcPr>
                    <a:solidFill>
                      <a:srgbClr val="F4F6F8"/>
                    </a:solidFill>
                  </a:tcPr>
                </a:tc>
              </a:tr>
              <a:tr h="548639">
                <a:tc>
                  <a:txBody>
                    <a:bodyPr/>
                    <a:lstStyle/>
                    <a:p>
                      <a:r>
                        <a:rPr sz="1400" b="0">
                          <a:solidFill>
                            <a:srgbClr val="222222"/>
                          </a:solidFill>
                        </a:rPr>
                        <a:t>Events found before they happen (Dir. Product Support Eng.)</a:t>
                      </a:r>
                    </a:p>
                  </a:txBody>
                  <a:tcPr>
                    <a:solidFill>
                      <a:srgbClr val="FFFFFF"/>
                    </a:solidFill>
                  </a:tcPr>
                </a:tc>
                <a:tc>
                  <a:txBody>
                    <a:bodyPr/>
                    <a:lstStyle/>
                    <a:p>
                      <a:r>
                        <a:rPr sz="1400" b="0">
                          <a:solidFill>
                            <a:srgbClr val="222222"/>
                          </a:solidFill>
                        </a:rPr>
                        <a:t>0</a:t>
                      </a:r>
                    </a:p>
                  </a:txBody>
                  <a:tcPr>
                    <a:solidFill>
                      <a:srgbClr val="FFFFFF"/>
                    </a:solidFill>
                  </a:tcPr>
                </a:tc>
                <a:tc>
                  <a:txBody>
                    <a:bodyPr/>
                    <a:lstStyle/>
                    <a:p>
                      <a:r>
                        <a:rPr sz="1400" b="0">
                          <a:solidFill>
                            <a:srgbClr val="222222"/>
                          </a:solidFill>
                        </a:rPr>
                        <a:t>14 of 59</a:t>
                      </a:r>
                    </a:p>
                  </a:txBody>
                  <a:tcPr>
                    <a:solidFill>
                      <a:srgbClr val="FFFFFF"/>
                    </a:solidFill>
                  </a:tcPr>
                </a:tc>
                <a:tc>
                  <a:txBody>
                    <a:bodyPr/>
                    <a:lstStyle/>
                    <a:p>
                      <a:r>
                        <a:rPr sz="1400" b="0">
                          <a:solidFill>
                            <a:srgbClr val="222222"/>
                          </a:solidFill>
                        </a:rPr>
                        <a:t>+24% caught</a:t>
                      </a:r>
                    </a:p>
                  </a:txBody>
                  <a:tcPr>
                    <a:solidFill>
                      <a:srgbClr val="FFFFFF"/>
                    </a:solidFill>
                  </a:tcPr>
                </a:tc>
              </a:tr>
              <a:tr h="548639">
                <a:tc>
                  <a:txBody>
                    <a:bodyPr/>
                    <a:lstStyle/>
                    <a:p>
                      <a:r>
                        <a:rPr sz="1400" b="0">
                          <a:solidFill>
                            <a:srgbClr val="222222"/>
                          </a:solidFill>
                        </a:rPr>
                        <a:t>Events carrying HIGH/CRITICAL AOG risk (Dir. Customer Support)</a:t>
                      </a:r>
                    </a:p>
                  </a:txBody>
                  <a:tcPr>
                    <a:solidFill>
                      <a:srgbClr val="F4F6F8"/>
                    </a:solidFill>
                  </a:tcPr>
                </a:tc>
                <a:tc>
                  <a:txBody>
                    <a:bodyPr/>
                    <a:lstStyle/>
                    <a:p>
                      <a:r>
                        <a:rPr sz="1400" b="0">
                          <a:solidFill>
                            <a:srgbClr val="222222"/>
                          </a:solidFill>
                        </a:rPr>
                        <a:t>54</a:t>
                      </a:r>
                    </a:p>
                  </a:txBody>
                  <a:tcPr>
                    <a:solidFill>
                      <a:srgbClr val="F4F6F8"/>
                    </a:solidFill>
                  </a:tcPr>
                </a:tc>
                <a:tc>
                  <a:txBody>
                    <a:bodyPr/>
                    <a:lstStyle/>
                    <a:p>
                      <a:r>
                        <a:rPr sz="1400" b="0">
                          <a:solidFill>
                            <a:srgbClr val="222222"/>
                          </a:solidFill>
                        </a:rPr>
                        <a:t>46</a:t>
                      </a:r>
                    </a:p>
                  </a:txBody>
                  <a:tcPr>
                    <a:solidFill>
                      <a:srgbClr val="F4F6F8"/>
                    </a:solidFill>
                  </a:tcPr>
                </a:tc>
                <a:tc>
                  <a:txBody>
                    <a:bodyPr/>
                    <a:lstStyle/>
                    <a:p>
                      <a:r>
                        <a:rPr sz="1400" b="0">
                          <a:solidFill>
                            <a:srgbClr val="222222"/>
                          </a:solidFill>
                        </a:rPr>
                        <a:t>-14%</a:t>
                      </a:r>
                    </a:p>
                  </a:txBody>
                  <a:tcPr>
                    <a:solidFill>
                      <a:srgbClr val="F4F6F8"/>
                    </a:solidFill>
                  </a:tcPr>
                </a:tc>
              </a:tr>
              <a:tr h="548639">
                <a:tc>
                  <a:txBody>
                    <a:bodyPr/>
                    <a:lstStyle/>
                    <a:p>
                      <a:r>
                        <a:rPr sz="1400" b="0">
                          <a:solidFill>
                            <a:srgbClr val="222222"/>
                          </a:solidFill>
                        </a:rPr>
                        <a:t>Days undetected for flagged components (Dir. Customer Support)</a:t>
                      </a:r>
                    </a:p>
                  </a:txBody>
                  <a:tcPr>
                    <a:solidFill>
                      <a:srgbClr val="FFFFFF"/>
                    </a:solidFill>
                  </a:tcPr>
                </a:tc>
                <a:tc>
                  <a:txBody>
                    <a:bodyPr/>
                    <a:lstStyle/>
                    <a:p>
                      <a:r>
                        <a:rPr sz="1400" b="0">
                          <a:solidFill>
                            <a:srgbClr val="222222"/>
                          </a:solidFill>
                        </a:rPr>
                        <a:t>37 days</a:t>
                      </a:r>
                    </a:p>
                  </a:txBody>
                  <a:tcPr>
                    <a:solidFill>
                      <a:srgbClr val="FFFFFF"/>
                    </a:solidFill>
                  </a:tcPr>
                </a:tc>
                <a:tc>
                  <a:txBody>
                    <a:bodyPr/>
                    <a:lstStyle/>
                    <a:p>
                      <a:r>
                        <a:rPr sz="1400" b="0">
                          <a:solidFill>
                            <a:srgbClr val="222222"/>
                          </a:solidFill>
                        </a:rPr>
                        <a:t>0 days (found at visit)</a:t>
                      </a:r>
                    </a:p>
                  </a:txBody>
                  <a:tcPr>
                    <a:solidFill>
                      <a:srgbClr val="FFFFFF"/>
                    </a:solidFill>
                  </a:tcPr>
                </a:tc>
                <a:tc>
                  <a:txBody>
                    <a:bodyPr/>
                    <a:lstStyle/>
                    <a:p>
                      <a:r>
                        <a:rPr sz="1400" b="0">
                          <a:solidFill>
                            <a:srgbClr val="222222"/>
                          </a:solidFill>
                        </a:rPr>
                        <a:t>-37 days</a:t>
                      </a:r>
                    </a:p>
                  </a:txBody>
                  <a:tcPr>
                    <a:solidFill>
                      <a:srgbClr val="FFFFFF"/>
                    </a:solidFill>
                  </a:tcPr>
                </a:tc>
              </a:tr>
              <a:tr h="548644">
                <a:tc>
                  <a:txBody>
                    <a:bodyPr/>
                    <a:lstStyle/>
                    <a:p>
                      <a:r>
                        <a:rPr sz="1400" b="0">
                          <a:solidFill>
                            <a:srgbClr val="222222"/>
                          </a:solidFill>
                        </a:rPr>
                        <a:t>Components Field Service must visit (Dir. Customer Support)</a:t>
                      </a:r>
                    </a:p>
                  </a:txBody>
                  <a:tcPr>
                    <a:solidFill>
                      <a:srgbClr val="F4F6F8"/>
                    </a:solidFill>
                  </a:tcPr>
                </a:tc>
                <a:tc>
                  <a:txBody>
                    <a:bodyPr/>
                    <a:lstStyle/>
                    <a:p>
                      <a:r>
                        <a:rPr sz="1400" b="0">
                          <a:solidFill>
                            <a:srgbClr val="222222"/>
                          </a:solidFill>
                        </a:rPr>
                        <a:t>unknown / blanket checks</a:t>
                      </a:r>
                    </a:p>
                  </a:txBody>
                  <a:tcPr>
                    <a:solidFill>
                      <a:srgbClr val="F4F6F8"/>
                    </a:solidFill>
                  </a:tcPr>
                </a:tc>
                <a:tc>
                  <a:txBody>
                    <a:bodyPr/>
                    <a:lstStyle/>
                    <a:p>
                      <a:r>
                        <a:rPr sz="1400" b="0">
                          <a:solidFill>
                            <a:srgbClr val="222222"/>
                          </a:solidFill>
                        </a:rPr>
                        <a:t>164 per quarter</a:t>
                      </a:r>
                    </a:p>
                  </a:txBody>
                  <a:tcPr>
                    <a:solidFill>
                      <a:srgbClr val="F4F6F8"/>
                    </a:solidFill>
                  </a:tcPr>
                </a:tc>
                <a:tc>
                  <a:txBody>
                    <a:bodyPr/>
                    <a:lstStyle/>
                    <a:p>
                      <a:r>
                        <a:rPr sz="1400" b="0">
                          <a:solidFill>
                            <a:srgbClr val="222222"/>
                          </a:solidFill>
                        </a:rPr>
                        <a:t>targeted list</a:t>
                      </a:r>
                    </a:p>
                  </a:txBody>
                  <a:tcPr>
                    <a:solidFill>
                      <a:srgbClr val="F4F6F8"/>
                    </a:solidFill>
                  </a:tcPr>
                </a:tc>
              </a:tr>
            </a:tbl>
          </a:graphicData>
        </a:graphic>
      </p:graphicFrame>
      <p:sp>
        <p:nvSpPr>
          <p:cNvPr id="5" name="TextBox 4"/>
          <p:cNvSpPr txBox="1"/>
          <p:nvPr/>
        </p:nvSpPr>
        <p:spPr>
          <a:xfrm>
            <a:off x="548640" y="5989320"/>
            <a:ext cx="10972800" cy="548640"/>
          </a:xfrm>
          <a:prstGeom prst="rect">
            <a:avLst/>
          </a:prstGeom>
          <a:noFill/>
        </p:spPr>
        <p:txBody>
          <a:bodyPr wrap="square">
            <a:spAutoFit/>
          </a:bodyPr>
          <a:lstStyle/>
          <a:p>
            <a:r>
              <a:rPr sz="1100">
                <a:solidFill>
                  <a:srgbClr val="B8C2CC"/>
                </a:solidFill>
              </a:rPr>
              <a:t>Assumption: 60% of caught events are converted to a planned repair by the proactive visit. Exposure is unit replacement value of the affected component.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548640" y="320040"/>
            <a:ext cx="10972800" cy="822960"/>
          </a:xfrm>
          <a:prstGeom prst="rect">
            <a:avLst/>
          </a:prstGeom>
          <a:noFill/>
        </p:spPr>
        <p:txBody>
          <a:bodyPr wrap="none">
            <a:spAutoFit/>
          </a:bodyPr>
          <a:lstStyle/>
          <a:p>
            <a:r>
              <a:rPr sz="3200" b="1">
                <a:solidFill>
                  <a:srgbClr val="FFFFFF"/>
                </a:solidFill>
              </a:rPr>
              <a:t>For the VP Finance / VP Aftermarket: the financial case</a:t>
            </a:r>
          </a:p>
          <a:p>
            <a:r>
              <a:rPr sz="1600">
                <a:solidFill>
                  <a:srgbClr val="F28C28"/>
                </a:solidFill>
              </a:rPr>
              <a:t>Warranty reserve, cash and payback</a:t>
            </a:r>
          </a:p>
        </p:txBody>
      </p:sp>
      <p:sp>
        <p:nvSpPr>
          <p:cNvPr id="3" name="Rectangle 2"/>
          <p:cNvSpPr/>
          <p:nvPr/>
        </p:nvSpPr>
        <p:spPr>
          <a:xfrm>
            <a:off x="0" y="6583680"/>
            <a:ext cx="12191695" cy="274320"/>
          </a:xfrm>
          <a:prstGeom prst="rect">
            <a:avLst/>
          </a:prstGeom>
          <a:solidFill>
            <a:srgbClr val="F2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0972800" cy="4937760"/>
          </a:xfrm>
          <a:prstGeom prst="rect">
            <a:avLst/>
          </a:prstGeom>
          <a:noFill/>
        </p:spPr>
        <p:txBody>
          <a:bodyPr wrap="square">
            <a:spAutoFit/>
          </a:bodyPr>
          <a:lstStyle/>
          <a:p>
            <a:pPr>
              <a:spcAft>
                <a:spcPts val="1000"/>
              </a:spcAft>
            </a:pPr>
            <a:r>
              <a:rPr sz="1800">
                <a:solidFill>
                  <a:srgbClr val="FFFFFF"/>
                </a:solidFill>
              </a:rPr>
              <a:t>Avoided warranty exposure: $198K per quarter, about $791K per year, on today's 1,640-component synthetic installed base</a:t>
            </a:r>
          </a:p>
          <a:p>
            <a:pPr>
              <a:spcAft>
                <a:spcPts val="1000"/>
              </a:spcAft>
            </a:pPr>
            <a:r>
              <a:rPr sz="1800">
                <a:solidFill>
                  <a:srgbClr val="FFFFFF"/>
                </a:solidFill>
              </a:rPr>
              <a:t>Quarterly exposure from high-severity events moves from $995K to $797K (-20%)</a:t>
            </a:r>
          </a:p>
          <a:p>
            <a:pPr>
              <a:spcAft>
                <a:spcPts val="1000"/>
              </a:spcAft>
            </a:pPr>
            <a:r>
              <a:rPr sz="1800">
                <a:solidFill>
                  <a:srgbClr val="FFFFFF"/>
                </a:solidFill>
              </a:rPr>
              <a:t>Payback: about 4 months at an assumed $250K/year run cost (platform + part-time analyst)</a:t>
            </a:r>
          </a:p>
          <a:p>
            <a:pPr>
              <a:spcAft>
                <a:spcPts val="1000"/>
              </a:spcAft>
            </a:pPr>
            <a:r>
              <a:rPr sz="1800">
                <a:solidFill>
                  <a:srgbClr val="FFFFFF"/>
                </a:solidFill>
              </a:rPr>
              <a:t>Reserve accuracy: per-component expected exposure (probability x unit cost) replaces a flat historical accrual, so the warranty reserve can be set bottom-up</a:t>
            </a:r>
          </a:p>
          <a:p>
            <a:pPr>
              <a:spcAft>
                <a:spcPts val="1000"/>
              </a:spcAft>
            </a:pPr>
            <a:r>
              <a:rPr sz="1800">
                <a:solidFill>
                  <a:srgbClr val="FFFFFF"/>
                </a:solidFill>
              </a:rPr>
              <a:t>Scales linearly: the same pipeline and model cover every additional operator contract without new headcount</a:t>
            </a:r>
          </a:p>
          <a:p>
            <a:pPr>
              <a:spcAft>
                <a:spcPts val="1000"/>
              </a:spcAft>
            </a:pPr>
            <a:r>
              <a:rPr sz="1800">
                <a:solidFill>
                  <a:srgbClr val="FFFFFF"/>
                </a:solidFill>
              </a:rPr>
              <a:t>Ask: fund a 90-day pilot with the two highest-anomaly operators, with the success gate defined on the next slide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548640" y="320040"/>
            <a:ext cx="10972800" cy="822960"/>
          </a:xfrm>
          <a:prstGeom prst="rect">
            <a:avLst/>
          </a:prstGeom>
          <a:noFill/>
        </p:spPr>
        <p:txBody>
          <a:bodyPr wrap="none">
            <a:spAutoFit/>
          </a:bodyPr>
          <a:lstStyle/>
          <a:p>
            <a:r>
              <a:rPr sz="3200" b="1">
                <a:solidFill>
                  <a:srgbClr val="FFFFFF"/>
                </a:solidFill>
              </a:rPr>
              <a:t>For the Director, Product Support Engineering: the operational case</a:t>
            </a:r>
          </a:p>
          <a:p>
            <a:r>
              <a:rPr sz="1600">
                <a:solidFill>
                  <a:srgbClr val="F28C28"/>
                </a:solidFill>
              </a:rPr>
              <a:t>Fewer surprises, faster fault isolation, a short list to act on</a:t>
            </a:r>
          </a:p>
        </p:txBody>
      </p:sp>
      <p:sp>
        <p:nvSpPr>
          <p:cNvPr id="3" name="Rectangle 2"/>
          <p:cNvSpPr/>
          <p:nvPr/>
        </p:nvSpPr>
        <p:spPr>
          <a:xfrm>
            <a:off x="0" y="6583680"/>
            <a:ext cx="12191695" cy="274320"/>
          </a:xfrm>
          <a:prstGeom prst="rect">
            <a:avLst/>
          </a:prstGeom>
          <a:solidFill>
            <a:srgbClr val="F2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0972800" cy="4937760"/>
          </a:xfrm>
          <a:prstGeom prst="rect">
            <a:avLst/>
          </a:prstGeom>
          <a:noFill/>
        </p:spPr>
        <p:txBody>
          <a:bodyPr wrap="square">
            <a:spAutoFit/>
          </a:bodyPr>
          <a:lstStyle/>
          <a:p>
            <a:pPr>
              <a:spcAft>
                <a:spcPts val="1000"/>
              </a:spcAft>
            </a:pPr>
            <a:r>
              <a:rPr sz="1800">
                <a:solidFill>
                  <a:srgbClr val="FFFFFF"/>
                </a:solidFill>
              </a:rPr>
              <a:t>A ranked list each quarter: 164 components to visit instead of blanket checks, and that list holds 24% of next quarter's high-severity events</a:t>
            </a:r>
          </a:p>
          <a:p>
            <a:pPr>
              <a:spcAft>
                <a:spcPts val="1000"/>
              </a:spcAft>
            </a:pPr>
            <a:r>
              <a:rPr sz="1800">
                <a:solidFill>
                  <a:srgbClr val="FFFFFF"/>
                </a:solidFill>
              </a:rPr>
              <a:t>AOG-risk events drop from 54 to about 46 per quarter. Each one avoided is one fewer emergency spares shipment and field-service dispatch</a:t>
            </a:r>
          </a:p>
          <a:p>
            <a:pPr>
              <a:spcAft>
                <a:spcPts val="1000"/>
              </a:spcAft>
            </a:pPr>
            <a:r>
              <a:rPr sz="1800">
                <a:solidFill>
                  <a:srgbClr val="FFFFFF"/>
                </a:solidFill>
              </a:rPr>
              <a:t>Anomalies on flagged components are found at the visit, not about 37 days later at failure</a:t>
            </a:r>
          </a:p>
          <a:p>
            <a:pPr>
              <a:spcAft>
                <a:spcPts val="1000"/>
              </a:spcAft>
            </a:pPr>
            <a:r>
              <a:rPr sz="1800">
                <a:solidFill>
                  <a:srgbClr val="FFFFFF"/>
                </a:solidFill>
              </a:rPr>
              <a:t>Engineers search the Maintenance Manuals by symptom or part number and get the fault-isolation steps, limits and torque values in seconds</a:t>
            </a:r>
          </a:p>
          <a:p>
            <a:pPr>
              <a:spcAft>
                <a:spcPts val="1000"/>
              </a:spcAft>
            </a:pPr>
            <a:r>
              <a:rPr sz="1800">
                <a:solidFill>
                  <a:srgbClr val="FFFFFF"/>
                </a:solidFill>
              </a:rPr>
              <a:t>Ask Genie in plain English: 'Which SkyWest hydraulic actuators are overdue?' Answers come from the same governed tables</a:t>
            </a:r>
          </a:p>
          <a:p>
            <a:pPr>
              <a:spcAft>
                <a:spcPts val="1000"/>
              </a:spcAft>
            </a:pPr>
            <a:r>
              <a:rPr sz="1800">
                <a:solidFill>
                  <a:srgbClr val="FFFFFF"/>
                </a:solidFill>
              </a:rPr>
              <a:t>Operators can be given read access to their own fleet only (row filters), so findings can be shared without exposing other customers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548640" y="320040"/>
            <a:ext cx="10972800" cy="822960"/>
          </a:xfrm>
          <a:prstGeom prst="rect">
            <a:avLst/>
          </a:prstGeom>
          <a:noFill/>
        </p:spPr>
        <p:txBody>
          <a:bodyPr wrap="none">
            <a:spAutoFit/>
          </a:bodyPr>
          <a:lstStyle/>
          <a:p>
            <a:r>
              <a:rPr sz="3200" b="1">
                <a:solidFill>
                  <a:srgbClr val="FFFFFF"/>
                </a:solidFill>
              </a:rPr>
              <a:t>Next step: 90-day pilot</a:t>
            </a:r>
          </a:p>
          <a:p>
            <a:r>
              <a:rPr sz="1600">
                <a:solidFill>
                  <a:srgbClr val="F28C28"/>
                </a:solidFill>
              </a:rPr>
              <a:t>Owner: VP Aftermarket &amp; Customer Support. Sponsor: VP Finance, Aerospace Group</a:t>
            </a:r>
          </a:p>
        </p:txBody>
      </p:sp>
      <p:sp>
        <p:nvSpPr>
          <p:cNvPr id="3" name="Rectangle 2"/>
          <p:cNvSpPr/>
          <p:nvPr/>
        </p:nvSpPr>
        <p:spPr>
          <a:xfrm>
            <a:off x="0" y="6583680"/>
            <a:ext cx="12191695" cy="274320"/>
          </a:xfrm>
          <a:prstGeom prst="rect">
            <a:avLst/>
          </a:prstGeom>
          <a:solidFill>
            <a:srgbClr val="F2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554480"/>
          <a:ext cx="11064240" cy="2743200"/>
        </p:xfrm>
        <a:graphic>
          <a:graphicData uri="http://schemas.openxmlformats.org/drawingml/2006/table">
            <a:tbl>
              <a:tblPr firstRow="1" bandRow="1">
                <a:tableStyleId>{5C22544A-7EE6-4342-B048-85BDC9FD1C3A}</a:tableStyleId>
              </a:tblPr>
              <a:tblGrid>
                <a:gridCol w="1280160"/>
                <a:gridCol w="5486400"/>
                <a:gridCol w="4297680"/>
              </a:tblGrid>
              <a:tr h="548640">
                <a:tc>
                  <a:txBody>
                    <a:bodyPr/>
                    <a:lstStyle/>
                    <a:p>
                      <a:r>
                        <a:rPr sz="1400" b="1">
                          <a:solidFill>
                            <a:srgbClr val="FFFFFF"/>
                          </a:solidFill>
                        </a:rPr>
                        <a:t>Week</a:t>
                      </a:r>
                    </a:p>
                  </a:txBody>
                  <a:tcPr>
                    <a:solidFill>
                      <a:srgbClr val="F28C28"/>
                    </a:solidFill>
                  </a:tcPr>
                </a:tc>
                <a:tc>
                  <a:txBody>
                    <a:bodyPr/>
                    <a:lstStyle/>
                    <a:p>
                      <a:r>
                        <a:rPr sz="1400" b="1">
                          <a:solidFill>
                            <a:srgbClr val="FFFFFF"/>
                          </a:solidFill>
                        </a:rPr>
                        <a:t>Milestone</a:t>
                      </a:r>
                    </a:p>
                  </a:txBody>
                  <a:tcPr>
                    <a:solidFill>
                      <a:srgbClr val="F28C28"/>
                    </a:solidFill>
                  </a:tcPr>
                </a:tc>
                <a:tc>
                  <a:txBody>
                    <a:bodyPr/>
                    <a:lstStyle/>
                    <a:p>
                      <a:r>
                        <a:rPr sz="1400" b="1">
                          <a:solidFill>
                            <a:srgbClr val="FFFFFF"/>
                          </a:solidFill>
                        </a:rPr>
                        <a:t>Success gate</a:t>
                      </a:r>
                    </a:p>
                  </a:txBody>
                  <a:tcPr>
                    <a:solidFill>
                      <a:srgbClr val="F28C28"/>
                    </a:solidFill>
                  </a:tcPr>
                </a:tc>
              </a:tr>
              <a:tr h="548640">
                <a:tc>
                  <a:txBody>
                    <a:bodyPr/>
                    <a:lstStyle/>
                    <a:p>
                      <a:r>
                        <a:rPr sz="1400" b="0">
                          <a:solidFill>
                            <a:srgbClr val="222222"/>
                          </a:solidFill>
                        </a:rPr>
                        <a:t>0-4</a:t>
                      </a:r>
                    </a:p>
                  </a:txBody>
                  <a:tcPr>
                    <a:solidFill>
                      <a:srgbClr val="F4F6F8"/>
                    </a:solidFill>
                  </a:tcPr>
                </a:tc>
                <a:tc>
                  <a:txBody>
                    <a:bodyPr/>
                    <a:lstStyle/>
                    <a:p>
                      <a:r>
                        <a:rPr sz="1400" b="0">
                          <a:solidFill>
                            <a:srgbClr val="222222"/>
                          </a:solidFill>
                        </a:rPr>
                        <a:t>Connect real service records for Atlas Pacific and Continental Wings</a:t>
                      </a:r>
                    </a:p>
                  </a:txBody>
                  <a:tcPr>
                    <a:solidFill>
                      <a:srgbClr val="F4F6F8"/>
                    </a:solidFill>
                  </a:tcPr>
                </a:tc>
                <a:tc>
                  <a:txBody>
                    <a:bodyPr/>
                    <a:lstStyle/>
                    <a:p>
                      <a:r>
                        <a:rPr sz="1400" b="0">
                          <a:solidFill>
                            <a:srgbClr val="222222"/>
                          </a:solidFill>
                        </a:rPr>
                        <a:t>Data lands daily and passes quality checks</a:t>
                      </a:r>
                    </a:p>
                  </a:txBody>
                  <a:tcPr>
                    <a:solidFill>
                      <a:srgbClr val="F4F6F8"/>
                    </a:solidFill>
                  </a:tcPr>
                </a:tc>
              </a:tr>
              <a:tr h="548640">
                <a:tc>
                  <a:txBody>
                    <a:bodyPr/>
                    <a:lstStyle/>
                    <a:p>
                      <a:r>
                        <a:rPr sz="1400" b="0">
                          <a:solidFill>
                            <a:srgbClr val="222222"/>
                          </a:solidFill>
                        </a:rPr>
                        <a:t>4-8</a:t>
                      </a:r>
                    </a:p>
                  </a:txBody>
                  <a:tcPr>
                    <a:solidFill>
                      <a:srgbClr val="FFFFFF"/>
                    </a:solidFill>
                  </a:tcPr>
                </a:tc>
                <a:tc>
                  <a:txBody>
                    <a:bodyPr/>
                    <a:lstStyle/>
                    <a:p>
                      <a:r>
                        <a:rPr sz="1400" b="0">
                          <a:solidFill>
                            <a:srgbClr val="222222"/>
                          </a:solidFill>
                        </a:rPr>
                        <a:t>Retrain on real data and back-test on the last quarter</a:t>
                      </a:r>
                    </a:p>
                  </a:txBody>
                  <a:tcPr>
                    <a:solidFill>
                      <a:srgbClr val="FFFFFF"/>
                    </a:solidFill>
                  </a:tcPr>
                </a:tc>
                <a:tc>
                  <a:txBody>
                    <a:bodyPr/>
                    <a:lstStyle/>
                    <a:p>
                      <a:r>
                        <a:rPr sz="1400" b="0">
                          <a:solidFill>
                            <a:srgbClr val="222222"/>
                          </a:solidFill>
                        </a:rPr>
                        <a:t>Top-decile list catches at least 2x the events random inspection does</a:t>
                      </a:r>
                    </a:p>
                  </a:txBody>
                  <a:tcPr>
                    <a:solidFill>
                      <a:srgbClr val="FFFFFF"/>
                    </a:solidFill>
                  </a:tcPr>
                </a:tc>
              </a:tr>
              <a:tr h="548640">
                <a:tc>
                  <a:txBody>
                    <a:bodyPr/>
                    <a:lstStyle/>
                    <a:p>
                      <a:r>
                        <a:rPr sz="1400" b="0">
                          <a:solidFill>
                            <a:srgbClr val="222222"/>
                          </a:solidFill>
                        </a:rPr>
                        <a:t>8-12</a:t>
                      </a:r>
                    </a:p>
                  </a:txBody>
                  <a:tcPr>
                    <a:solidFill>
                      <a:srgbClr val="F4F6F8"/>
                    </a:solidFill>
                  </a:tcPr>
                </a:tc>
                <a:tc>
                  <a:txBody>
                    <a:bodyPr/>
                    <a:lstStyle/>
                    <a:p>
                      <a:r>
                        <a:rPr sz="1400" b="0">
                          <a:solidFill>
                            <a:srgbClr val="222222"/>
                          </a:solidFill>
                        </a:rPr>
                        <a:t>Field Service works the list, engineers use manual search</a:t>
                      </a:r>
                    </a:p>
                  </a:txBody>
                  <a:tcPr>
                    <a:solidFill>
                      <a:srgbClr val="F4F6F8"/>
                    </a:solidFill>
                  </a:tcPr>
                </a:tc>
                <a:tc>
                  <a:txBody>
                    <a:bodyPr/>
                    <a:lstStyle/>
                    <a:p>
                      <a:r>
                        <a:rPr sz="1400" b="0">
                          <a:solidFill>
                            <a:srgbClr val="222222"/>
                          </a:solidFill>
                        </a:rPr>
                        <a:t>At least 25% fewer high-severity events on visited components</a:t>
                      </a:r>
                    </a:p>
                  </a:txBody>
                  <a:tcPr>
                    <a:solidFill>
                      <a:srgbClr val="F4F6F8"/>
                    </a:solidFill>
                  </a:tcPr>
                </a:tc>
              </a:tr>
              <a:tr h="548640">
                <a:tc>
                  <a:txBody>
                    <a:bodyPr/>
                    <a:lstStyle/>
                    <a:p>
                      <a:r>
                        <a:rPr sz="1400" b="0">
                          <a:solidFill>
                            <a:srgbClr val="222222"/>
                          </a:solidFill>
                        </a:rPr>
                        <a:t>12</a:t>
                      </a:r>
                    </a:p>
                  </a:txBody>
                  <a:tcPr>
                    <a:solidFill>
                      <a:srgbClr val="FFFFFF"/>
                    </a:solidFill>
                  </a:tcPr>
                </a:tc>
                <a:tc>
                  <a:txBody>
                    <a:bodyPr/>
                    <a:lstStyle/>
                    <a:p>
                      <a:r>
                        <a:rPr sz="1400" b="0">
                          <a:solidFill>
                            <a:srgbClr val="222222"/>
                          </a:solidFill>
                        </a:rPr>
                        <a:t>Decision review with VP Finance</a:t>
                      </a:r>
                    </a:p>
                  </a:txBody>
                  <a:tcPr>
                    <a:solidFill>
                      <a:srgbClr val="FFFFFF"/>
                    </a:solidFill>
                  </a:tcPr>
                </a:tc>
                <a:tc>
                  <a:txBody>
                    <a:bodyPr/>
                    <a:lstStyle/>
                    <a:p>
                      <a:r>
                        <a:rPr sz="1400" b="0">
                          <a:solidFill>
                            <a:srgbClr val="222222"/>
                          </a:solidFill>
                        </a:rPr>
                        <a:t>Annualised avoided exposure exceeds 3x run cost</a:t>
                      </a:r>
                    </a:p>
                  </a:txBody>
                  <a:tcP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